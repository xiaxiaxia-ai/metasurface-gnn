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i="0" spc="140">
                <a:solidFill>
                  <a:srgbClr val="0E7C86"/>
                </a:solidFill>
                <a:latin typeface="Microsoft YaHei"/>
                <a:ea typeface="Microsoft YaHei"/>
              </a:rPr>
              <a:t>ISAP · 同一课题组的两条技术路线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两篇会议工作，四个可直接落到 M3 的设计决策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E6B78"/>
                </a:solidFill>
                <a:latin typeface="Microsoft YaHei"/>
                <a:ea typeface="Microsoft YaHei"/>
              </a:rPr>
              <a:t>传播图 GNN（室内路径损耗）× 物理信息自回归网络（隧道 RSS）：两篇都是「解析主干 + 学习修正」，与我们的 γ = Γ_bit(1+δ) 同构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73936"/>
            <a:ext cx="5321808" cy="18653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773936"/>
            <a:ext cx="38404" cy="186537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41247" y="1947672"/>
            <a:ext cx="292608" cy="29260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929384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-5">
                <a:solidFill>
                  <a:srgbClr val="12263A"/>
                </a:solidFill>
                <a:latin typeface="Microsoft YaHei"/>
                <a:ea typeface="Microsoft YaHei"/>
              </a:rPr>
              <a:t>边按机制分，不按距离分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49424"/>
            <a:ext cx="4882896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5E6B78"/>
                </a:solidFill>
                <a:latin typeface="Microsoft YaHei"/>
                <a:ea typeface="Microsoft YaHei"/>
              </a:rPr>
              <a:t>他们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LoS·反射·绕射三类边；路径限最多两次反射、一次绕射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C97A24"/>
                </a:solidFill>
                <a:latin typeface="Microsoft YaHei"/>
                <a:ea typeface="Microsoft YaHei"/>
              </a:rPr>
              <a:t>同构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M4 要加的「长程 / 多尺度边」同样需要「哪种机制、连多远」的规则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E7C86"/>
                </a:solidFill>
                <a:latin typeface="Microsoft YaHei"/>
                <a:ea typeface="Microsoft YaHei"/>
              </a:rPr>
              <a:t>我们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近场 / 表面波 / 衍射分类建边、各自截断；边缘单元加边界编码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773936"/>
            <a:ext cx="5321808" cy="18653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27064" y="1773936"/>
            <a:ext cx="38404" cy="186537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28232" y="1947672"/>
            <a:ext cx="292608" cy="29260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929384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-5">
                <a:solidFill>
                  <a:srgbClr val="12263A"/>
                </a:solidFill>
                <a:latin typeface="Microsoft YaHei"/>
                <a:ea typeface="Microsoft YaHei"/>
              </a:rPr>
              <a:t>主干 × 可退化残差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49424"/>
            <a:ext cx="4882896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5E6B78"/>
                </a:solidFill>
                <a:latin typeface="Microsoft YaHei"/>
                <a:ea typeface="Microsoft YaHei"/>
              </a:rPr>
              <a:t>他们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m = A·fθ(h)；令 fθ ≡ 1 即退回解析解，用作消融基线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C97A24"/>
                </a:solidFill>
                <a:latin typeface="Microsoft YaHei"/>
                <a:ea typeface="Microsoft YaHei"/>
              </a:rPr>
              <a:t>同构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我们的 γ = Γ_bit(1+δ)，δ ≡ 0 正是 M0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E7C86"/>
                </a:solidFill>
                <a:latin typeface="Microsoft YaHei"/>
                <a:ea typeface="Microsoft YaHei"/>
              </a:rPr>
              <a:t>我们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把 δ≡0 写成结构约束 + 消融 + OOD 兜底；δ 场直接当耦合图看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5321808" cy="18653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38404" cy="186537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7" y="4032504"/>
            <a:ext cx="292608" cy="29260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4014216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-5">
                <a:solidFill>
                  <a:srgbClr val="12263A"/>
                </a:solidFill>
                <a:latin typeface="Microsoft YaHei"/>
                <a:ea typeface="Microsoft YaHei"/>
              </a:rPr>
              <a:t>物理读出，不学 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334256"/>
            <a:ext cx="4882896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5E6B78"/>
                </a:solidFill>
                <a:latin typeface="Microsoft YaHei"/>
                <a:ea typeface="Microsoft YaHei"/>
              </a:rPr>
              <a:t>他们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E = Σ m 再取 dB；池化按物理路径，不按全图节点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C97A24"/>
                </a:solidFill>
                <a:latin typeface="Microsoft YaHei"/>
                <a:ea typeface="Microsoft YaHei"/>
              </a:rPr>
              <a:t>同构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远场本就是 Σγₙ·exp(jk·rₙ) 的线性泛函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E7C86"/>
                </a:solidFill>
                <a:latin typeface="Microsoft YaHei"/>
                <a:ea typeface="Microsoft YaHei"/>
              </a:rPr>
              <a:t>我们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读出层直接用 8280×400 传播算子；聚合用 sum/attention 而非定长拼接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3858768"/>
            <a:ext cx="5321808" cy="186537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27064" y="3858768"/>
            <a:ext cx="38404" cy="186537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28232" y="4032504"/>
            <a:ext cx="292608" cy="29260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014216"/>
            <a:ext cx="4498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-5">
                <a:solidFill>
                  <a:srgbClr val="12263A"/>
                </a:solidFill>
                <a:latin typeface="Microsoft YaHei"/>
                <a:ea typeface="Microsoft YaHei"/>
              </a:rPr>
              <a:t>闭环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34256"/>
            <a:ext cx="4882896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5E6B78"/>
                </a:solidFill>
                <a:latin typeface="Microsoft YaHei"/>
                <a:ea typeface="Microsoft YaHei"/>
              </a:rPr>
              <a:t>他们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0→100 m 逐面推进，训练时喂自己的预测压住漂移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C97A24"/>
                </a:solidFill>
                <a:latin typeface="Microsoft YaHei"/>
                <a:ea typeface="Microsoft YaHei"/>
              </a:rPr>
              <a:t>同构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20×20 → 更大口径的分块外推、f0 → 相邻频点，都是 rollout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E7C86"/>
                </a:solidFill>
                <a:latin typeface="Microsoft YaHei"/>
                <a:ea typeface="Microsoft YaHei"/>
              </a:rPr>
              <a:t>我们　</a:t>
            </a:r>
            <a:r>
              <a:rPr sz="1050" b="0" i="0">
                <a:solidFill>
                  <a:srgbClr val="2B3845"/>
                </a:solidFill>
                <a:latin typeface="Microsoft YaHei"/>
                <a:ea typeface="Microsoft YaHei"/>
              </a:rPr>
              <a:t>块间 / 频间自回归 + scheduled sampling，攻「可变规模 / 多频段」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33872"/>
            <a:ext cx="10908792" cy="402336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59536" y="5925312"/>
            <a:ext cx="10515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FC4C9"/>
                </a:solidFill>
                <a:latin typeface="Microsoft YaHei"/>
                <a:ea typeface="Microsoft YaHei"/>
              </a:rPr>
              <a:t>共同点：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</a:rPr>
              <a:t>物理算子负责外推，网络只补 Γ_bit 算不准的那部分——这正是 M3 相对 M0/M1/M2 的立身之本。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64224"/>
            <a:ext cx="10241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6A2"/>
                </a:solidFill>
                <a:latin typeface="Microsoft YaHei"/>
                <a:ea typeface="Microsoft YaHei"/>
              </a:rPr>
              <a:t>原文对应：propagation graph　·　analytic route messages　·　graph residual &amp; field synthesis　·　autoregressive prediction &amp;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850" b="0" i="0">
                <a:solidFill>
                  <a:srgbClr val="8A96A2"/>
                </a:solidFill>
                <a:latin typeface="Microsoft YaHei"/>
                <a:ea typeface="Microsoft YaHei"/>
              </a:rPr>
              <a:t> 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i="0" spc="140">
                <a:solidFill>
                  <a:srgbClr val="0E7C86"/>
                </a:solidFill>
                <a:latin typeface="Microsoft YaHei"/>
                <a:ea typeface="Microsoft YaHei"/>
              </a:rPr>
              <a:t>落地方案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10">
                <a:solidFill>
                  <a:srgbClr val="12263A"/>
                </a:solidFill>
                <a:latin typeface="Microsoft YaHei"/>
                <a:ea typeface="Microsoft YaHei"/>
              </a:rPr>
              <a:t>落到 M3：五步架构，三条改造，一条评估红线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E6B78"/>
                </a:solidFill>
                <a:latin typeface="Microsoft YaHei"/>
                <a:ea typeface="Microsoft YaHei"/>
              </a:rPr>
              <a:t>把会议里的「物理主干 + 学习残差」直接写进 20×20 编码超表面的 γ / δ 路线（10 GHz，逐单元 1-bit）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792224"/>
            <a:ext cx="197510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975104" cy="292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8952" y="1901952"/>
            <a:ext cx="246888" cy="24688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892807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Microsoft YaHei"/>
                <a:ea typeface="Microsoft YaHei"/>
              </a:rPr>
              <a:t>图构建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节点：几何·码位·边界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688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边：近场/表面波/衍射，分类截断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81020" y="2176272"/>
            <a:ext cx="128016" cy="164592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857500" y="1792224"/>
            <a:ext cx="197510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57500" y="1792224"/>
            <a:ext cx="1975104" cy="292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2958084" y="1901952"/>
            <a:ext cx="246888" cy="24688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8124" y="1892807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Microsoft YaHei"/>
                <a:ea typeface="Microsoft YaHei"/>
              </a:rPr>
              <a:t>物理主干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7228" y="2249424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γ = Γ_bit（δ ≡ 0）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228" y="24688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传播算子 A（8280×400）预计算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80152" y="2176272"/>
            <a:ext cx="128016" cy="164592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056632" y="1792224"/>
            <a:ext cx="197510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56632" y="1792224"/>
            <a:ext cx="1975104" cy="292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157216" y="1901952"/>
            <a:ext cx="246888" cy="24688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1892807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Microsoft YaHei"/>
                <a:ea typeface="Microsoft YaHei"/>
              </a:rPr>
              <a:t>GNN 修正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249424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输出 δ（复数，400 DOF）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4688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sum / attention 聚合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79284" y="2176272"/>
            <a:ext cx="128016" cy="164592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255764" y="1792224"/>
            <a:ext cx="197510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255764" y="1792224"/>
            <a:ext cx="1975104" cy="292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356348" y="1901952"/>
            <a:ext cx="246888" cy="24688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6388" y="1892807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5492" y="2249424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E = Σ γₙ·exp(jk·rₙ)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5492" y="24688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不学 decoder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278416" y="2176272"/>
            <a:ext cx="128016" cy="164592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454896" y="1792224"/>
            <a:ext cx="197510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454896" y="1792224"/>
            <a:ext cx="1975104" cy="292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555480" y="1901952"/>
            <a:ext cx="246888" cy="246888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0E7C8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892807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Microsoft YaHei"/>
                <a:ea typeface="Microsoft YaHei"/>
              </a:rPr>
              <a:t>双头输出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2249424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方向图（dB）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4688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E6B78"/>
                </a:solidFill>
                <a:latin typeface="Microsoft YaHei"/>
                <a:ea typeface="Microsoft YaHei"/>
              </a:rPr>
              <a:t>＋ 绝对增益（不归一化）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145536"/>
            <a:ext cx="31089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310896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D2D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3474720"/>
            <a:ext cx="32186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Microsoft YaHei"/>
                <a:ea typeface="Microsoft YaHei"/>
              </a:rPr>
              <a:t>边按机制分，不按距离分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3785615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845"/>
                </a:solidFill>
                <a:latin typeface="Microsoft YaHei"/>
                <a:ea typeface="Microsoft YaHei"/>
              </a:rPr>
              <a:t>「最多 2 次反射、1 次绕射」可直接照搬：每类耦合独立截断半径与阶数。M4 的长程边因此有物理依据，而不是把 k-NN 半径调大。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3145536"/>
            <a:ext cx="31089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572000" y="310896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D2D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3474720"/>
            <a:ext cx="32186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Microsoft YaHei"/>
                <a:ea typeface="Microsoft YaHei"/>
              </a:rPr>
              <a:t>δ ≡ 0 必须能退化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785615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845"/>
                </a:solidFill>
                <a:latin typeface="Microsoft YaHei"/>
                <a:ea typeface="Microsoft YaHei"/>
              </a:rPr>
              <a:t>fθ≡1 是人家的消融基线，我们的 M0 就是 δ≡0。训练给 |δ| 加正则、推理留 δ=0 兜底，OOD 至少不劣于物理下限。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56448" y="3145536"/>
            <a:ext cx="31089" cy="1481328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310896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D2D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474720"/>
            <a:ext cx="32186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Microsoft YaHei"/>
                <a:ea typeface="Microsoft YaHei"/>
              </a:rPr>
              <a:t>尺寸 / 频率维 rollout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785615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845"/>
                </a:solidFill>
                <a:latin typeface="Microsoft YaHei"/>
                <a:ea typeface="Microsoft YaHei"/>
              </a:rPr>
              <a:t>他们把 100 步 rollout 训稳；我们用在更大口径的分块外推与 f0→相邻频点，让误差不随块数、频差累积。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846320"/>
            <a:ext cx="10881360" cy="768096"/>
          </a:xfrm>
          <a:prstGeom prst="rect">
            <a:avLst/>
          </a:prstGeom>
          <a:solidFill>
            <a:srgbClr val="FDF4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58368" y="4846320"/>
            <a:ext cx="38404" cy="768096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59536" y="4910328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C97A24"/>
                </a:solidFill>
                <a:latin typeface="Microsoft YaHei"/>
                <a:ea typeface="Microsoft YaHei"/>
              </a:rPr>
              <a:t>评估红线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" y="5138928"/>
            <a:ext cx="10469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2263A"/>
                </a:solidFill>
                <a:latin typeface="Microsoft YaHei"/>
                <a:ea typeface="Microsoft YaHei"/>
              </a:rPr>
              <a:t>报方向图指标（镜面 RMSE / 旁瓣 / 零深），不报归一化场 MSE</a:t>
            </a:r>
            <a:r>
              <a:rPr sz="960" b="0" i="0">
                <a:solidFill>
                  <a:srgbClr val="2B3845"/>
                </a:solidFill>
                <a:latin typeface="Microsoft YaHei"/>
                <a:ea typeface="Microsoft YaHei"/>
              </a:rPr>
              <a:t>　·　数据生成 / 图构建 / 推理 分项计时</a:t>
            </a:r>
            <a:r>
              <a:rPr sz="960" b="0" i="0">
                <a:solidFill>
                  <a:srgbClr val="2B3845"/>
                </a:solidFill>
                <a:latin typeface="Microsoft YaHei"/>
                <a:ea typeface="Microsoft YaHei"/>
              </a:rPr>
              <a:t>　·　跨规模、跨频、跨单元库 OOD，多点多例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724144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97A24"/>
                </a:solidFill>
                <a:latin typeface="Microsoft YaHei"/>
                <a:ea typeface="Microsoft YaHei"/>
              </a:rPr>
              <a:t>反面教材：</a:t>
            </a:r>
            <a:r>
              <a:rPr sz="830" b="0" i="0">
                <a:solidFill>
                  <a:srgbClr val="8A96A2"/>
                </a:solidFill>
                <a:latin typeface="Microsoft YaHei"/>
                <a:ea typeface="Microsoft YaHei"/>
              </a:rPr>
              <a:t>他们自述的局限——证据只有一点一几何；≈2λ 采样分辨不了驻波；逐面归一化丢掉绝对值。对应我们的三个坑：单 case 报喜、角度采样不足、归一化 MSE 跨任务比较。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6217920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40080" y="6309360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2"/>
                </a:solidFill>
                <a:latin typeface="Microsoft YaHei"/>
                <a:ea typeface="Microsoft YaHei"/>
              </a:rPr>
              <a:t>依据：想法笔记.md、后续工作计划.md（M0–M4、γ = Γ_bit(1+δ)、8280×400 传播算子）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850" b="0" i="0">
                <a:solidFill>
                  <a:srgbClr val="8A96A2"/>
                </a:solidFill>
                <a:latin typeface="Microsoft YaHei"/>
                <a:ea typeface="Microsoft YaHei"/>
              </a:rPr>
              <a:t> /02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