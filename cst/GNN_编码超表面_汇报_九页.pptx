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GNN 三步：① 每个邻居 i 把自身状态和相对位置发给中心 j；② 中心把所有消息相加（与顺序无关）；③ 结合自身旧状态更新一次，这就是一层。堆三层，信息传三圈。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异构 GCN：Het-GCN：节点 = DR 单元与馈电探针（不同类型），边 = 相邻单元的物理连接；节点属性 = 尺寸 + 材料，边属性 = 相对位置；不同关系（DR-DR、DR-Probe）用不同权重。对应我们：不同相位单元就是不同节点类型。</a:t>
            </a:r>
          </a:p>
          <a:p>
            <a:r>
              <a:t>自回归外推：网络只学“下一米”怎么变；把预测当输入，一步步推到 100 米；训练时故意喂错的预测，学会纠错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E7C86"/>
                </a:solidFill>
                <a:latin typeface="Microsoft YaHei"/>
                <a:ea typeface="Microsoft YaHei"/>
              </a:rPr>
              <a:t>■ </a:t>
            </a:r>
            <a:r>
              <a:rPr sz="1200" b="1" spc="120">
                <a:solidFill>
                  <a:srgbClr val="0E7C86"/>
                </a:solidFill>
                <a:latin typeface="Microsoft YaHei"/>
                <a:ea typeface="Microsoft YaHei"/>
              </a:rPr>
              <a:t>器件设计 · 先看对象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76656"/>
            <a:ext cx="1078992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 spc="-10">
                <a:solidFill>
                  <a:srgbClr val="12263A"/>
                </a:solidFill>
                <a:latin typeface="Microsoft YaHei"/>
                <a:ea typeface="Microsoft YaHei"/>
              </a:rPr>
              <a:t>两种 1-bit 单元，组成 20×20 阵列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16736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8"/>
                </a:solidFill>
                <a:latin typeface="Microsoft YaHei"/>
                <a:ea typeface="Microsoft YaHei"/>
              </a:rPr>
              <a:t>同一块板，改贴片半径就能给出两个相差 180° 的反射相位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755648"/>
            <a:ext cx="10817352" cy="12801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7" name="Picture 6" descr="intro_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865376"/>
            <a:ext cx="10817352" cy="325753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5800" y="5214355"/>
            <a:ext cx="108173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2263A"/>
                </a:solidFill>
                <a:latin typeface="Microsoft YaHei"/>
                <a:ea typeface="Microsoft YaHei"/>
              </a:rPr>
              <a:t>两态相位差 179.95°、幅度差 0.15 dB</a:t>
            </a:r>
            <a:r>
              <a:rPr sz="1150" b="0">
                <a:solidFill>
                  <a:srgbClr val="5E6B78"/>
                </a:solidFill>
                <a:latin typeface="Microsoft YaHei"/>
                <a:ea typeface="Microsoft YaHei"/>
              </a:rPr>
              <a:t>　→　满足 1-bit 编码条件；口径 280 mm（9.34λ @ 10 GHz），一个码 = 一张 8280 点的方向图。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760720"/>
            <a:ext cx="10817352" cy="457200"/>
          </a:xfrm>
          <a:prstGeom prst="rect">
            <a:avLst/>
          </a:prstGeom>
          <a:solidFill>
            <a:srgbClr val="12263A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96112" y="5861304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FFFFFF"/>
                </a:solidFill>
                <a:latin typeface="Microsoft YaHei"/>
                <a:ea typeface="Microsoft YaHei"/>
              </a:rPr>
              <a:t>后面要学的，就是“这 100 个比特 → 那张方向图”的映射；先记住这 400 个单元是同一块板上刻出来的。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455664"/>
            <a:ext cx="914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2263A"/>
                </a:solidFill>
                <a:latin typeface="Microsoft YaHei"/>
                <a:ea typeface="Microsoft YaHei"/>
              </a:rPr>
              <a:t>01</a:t>
            </a:r>
            <a:r>
              <a:rPr sz="1000" b="0">
                <a:solidFill>
                  <a:srgbClr val="8A96A2"/>
                </a:solidFill>
                <a:latin typeface="Microsoft YaHei"/>
                <a:ea typeface="Microsoft YaHei"/>
              </a:rPr>
              <a:t> /10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E7C86"/>
                </a:solidFill>
                <a:latin typeface="Microsoft YaHei"/>
                <a:ea typeface="Microsoft YaHei"/>
              </a:rPr>
              <a:t>■ </a:t>
            </a:r>
            <a:r>
              <a:rPr sz="1200" b="1" spc="120">
                <a:solidFill>
                  <a:srgbClr val="0E7C86"/>
                </a:solidFill>
                <a:latin typeface="Microsoft YaHei"/>
                <a:ea typeface="Microsoft YaHei"/>
              </a:rPr>
              <a:t>第一部分 · 为什么是 GNN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76656"/>
            <a:ext cx="1078992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spc="-10">
                <a:solidFill>
                  <a:srgbClr val="12263A"/>
                </a:solidFill>
                <a:latin typeface="Microsoft YaHei"/>
                <a:ea typeface="Microsoft YaHei"/>
              </a:rPr>
              <a:t>三个特点，正好对上我们阵列的三个痛点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16736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8"/>
                </a:solidFill>
                <a:latin typeface="Microsoft YaHei"/>
                <a:ea typeface="Microsoft YaHei"/>
              </a:rPr>
              <a:t>400 个单元、只和邻居耦合、每个单元都带物理量——这三点决定了该用什么网络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755648"/>
            <a:ext cx="10817352" cy="12801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685800" y="1956816"/>
            <a:ext cx="3401568" cy="3346704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685800" y="1956816"/>
            <a:ext cx="45720" cy="3346704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923544" y="2139696"/>
            <a:ext cx="457200" cy="457200"/>
          </a:xfrm>
          <a:prstGeom prst="ellipse">
            <a:avLst/>
          </a:prstGeom>
          <a:noFill/>
          <a:ln w="19050">
            <a:solidFill>
              <a:srgbClr val="0E7C86"/>
            </a:solidFill>
          </a:ln>
          <a:effectLst/>
        </p:spPr>
        <p:txBody>
          <a:bodyPr rtlCol="0" anchor="ctr" lIns="0" rIns="0" tIns="0" bIns="0"/>
          <a:lstStyle/>
          <a:p>
            <a:pPr algn="ctr"/>
            <a:r>
              <a:rPr sz="1350" b="1">
                <a:solidFill>
                  <a:srgbClr val="0E7C86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2761488"/>
            <a:ext cx="290779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2263A"/>
                </a:solidFill>
                <a:latin typeface="Microsoft YaHei"/>
                <a:ea typeface="Microsoft YaHei"/>
              </a:rPr>
              <a:t>只认邻居，不认网格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456432"/>
            <a:ext cx="290779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40">
                <a:solidFill>
                  <a:srgbClr val="C97A24"/>
                </a:solidFill>
                <a:latin typeface="Microsoft YaHei"/>
                <a:ea typeface="Microsoft YaHei"/>
              </a:rPr>
              <a:t>我们的问题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3544" y="3694176"/>
            <a:ext cx="290779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E6B78"/>
                </a:solidFill>
                <a:latin typeface="Microsoft YaHei"/>
                <a:ea typeface="Microsoft YaHei"/>
              </a:rPr>
              <a:t>400 个单元互相耦合。CNN 要整齐网格，缺单元、异形、曲面就失效。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544" y="4480560"/>
            <a:ext cx="290779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40">
                <a:solidFill>
                  <a:srgbClr val="0E7C86"/>
                </a:solidFill>
                <a:latin typeface="Microsoft YaHei"/>
                <a:ea typeface="Microsoft YaHei"/>
              </a:rPr>
              <a:t>GNN 怎么接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" y="4700016"/>
            <a:ext cx="290779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B3845"/>
                </a:solidFill>
                <a:latin typeface="Microsoft YaHei"/>
                <a:ea typeface="Microsoft YaHei"/>
              </a:rPr>
              <a:t>节点 = 单元，边 = 耦合；谁挨着谁就连边，布局变了只改图。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97680" y="1956816"/>
            <a:ext cx="3401568" cy="3346704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4297680" y="1956816"/>
            <a:ext cx="45720" cy="3346704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4535424" y="2139696"/>
            <a:ext cx="457200" cy="457200"/>
          </a:xfrm>
          <a:prstGeom prst="ellipse">
            <a:avLst/>
          </a:prstGeom>
          <a:noFill/>
          <a:ln w="19050">
            <a:solidFill>
              <a:srgbClr val="0E7C86"/>
            </a:solidFill>
          </a:ln>
          <a:effectLst/>
        </p:spPr>
        <p:txBody>
          <a:bodyPr rtlCol="0" anchor="ctr" lIns="0" rIns="0" tIns="0" bIns="0"/>
          <a:lstStyle/>
          <a:p>
            <a:pPr algn="ctr"/>
            <a:r>
              <a:rPr sz="1350" b="1">
                <a:solidFill>
                  <a:srgbClr val="0E7C86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35424" y="2761488"/>
            <a:ext cx="290779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2263A"/>
                </a:solidFill>
                <a:latin typeface="Microsoft YaHei"/>
                <a:ea typeface="Microsoft YaHei"/>
              </a:rPr>
              <a:t>节点和边都是物理量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5424" y="3456432"/>
            <a:ext cx="290779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40">
                <a:solidFill>
                  <a:srgbClr val="C97A24"/>
                </a:solidFill>
                <a:latin typeface="Microsoft YaHei"/>
                <a:ea typeface="Microsoft YaHei"/>
              </a:rPr>
              <a:t>我们的问题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35424" y="3694176"/>
            <a:ext cx="290779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E6B78"/>
                </a:solidFill>
                <a:latin typeface="Microsoft YaHei"/>
                <a:ea typeface="Microsoft YaHei"/>
              </a:rPr>
              <a:t>码位、位置、Γ 都得进模型，不能只喂一张黑白比特图。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35424" y="4480560"/>
            <a:ext cx="290779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40">
                <a:solidFill>
                  <a:srgbClr val="0E7C86"/>
                </a:solidFill>
                <a:latin typeface="Microsoft YaHei"/>
                <a:ea typeface="Microsoft YaHei"/>
              </a:rPr>
              <a:t>GNN 怎么接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35424" y="4700016"/>
            <a:ext cx="290779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B3845"/>
                </a:solidFill>
                <a:latin typeface="Microsoft YaHei"/>
                <a:ea typeface="Microsoft YaHei"/>
              </a:rPr>
              <a:t>节点 9 维（码位/位置/Γ/边界），边 5 维（位移/距离/方位）。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909560" y="1956816"/>
            <a:ext cx="3401568" cy="3346704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909560" y="1956816"/>
            <a:ext cx="45720" cy="3346704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8147304" y="2139696"/>
            <a:ext cx="457200" cy="457200"/>
          </a:xfrm>
          <a:prstGeom prst="ellipse">
            <a:avLst/>
          </a:prstGeom>
          <a:noFill/>
          <a:ln w="19050">
            <a:solidFill>
              <a:srgbClr val="0E7C86"/>
            </a:solidFill>
          </a:ln>
          <a:effectLst/>
        </p:spPr>
        <p:txBody>
          <a:bodyPr rtlCol="0" anchor="ctr" lIns="0" rIns="0" tIns="0" bIns="0"/>
          <a:lstStyle/>
          <a:p>
            <a:pPr algn="ctr"/>
            <a:r>
              <a:rPr sz="1350" b="1">
                <a:solidFill>
                  <a:srgbClr val="0E7C86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47304" y="2761488"/>
            <a:ext cx="290779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2263A"/>
                </a:solidFill>
                <a:latin typeface="Microsoft YaHei"/>
                <a:ea typeface="Microsoft YaHei"/>
              </a:rPr>
              <a:t>单元数变了，不用重训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47304" y="3456432"/>
            <a:ext cx="290779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40">
                <a:solidFill>
                  <a:srgbClr val="C97A24"/>
                </a:solidFill>
                <a:latin typeface="Microsoft YaHei"/>
                <a:ea typeface="Microsoft YaHei"/>
              </a:rPr>
              <a:t>我们的问题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47304" y="3694176"/>
            <a:ext cx="290779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E6B78"/>
                </a:solidFill>
                <a:latin typeface="Microsoft YaHei"/>
                <a:ea typeface="Microsoft YaHei"/>
              </a:rPr>
              <a:t>以后要做 40×40、缺口阵、曲面共形，每种都重训不现实。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47304" y="4480560"/>
            <a:ext cx="290779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40">
                <a:solidFill>
                  <a:srgbClr val="0E7C86"/>
                </a:solidFill>
                <a:latin typeface="Microsoft YaHei"/>
                <a:ea typeface="Microsoft YaHei"/>
              </a:rPr>
              <a:t>GNN 怎么接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47304" y="4700016"/>
            <a:ext cx="290779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B3845"/>
                </a:solidFill>
                <a:latin typeface="Microsoft YaHei"/>
                <a:ea typeface="Microsoft YaHei"/>
              </a:rPr>
              <a:t>参数和阵列大小无关，换尺寸只换图，权重不动。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85800" y="5468112"/>
            <a:ext cx="10817352" cy="621792"/>
          </a:xfrm>
          <a:prstGeom prst="rect">
            <a:avLst/>
          </a:prstGeom>
          <a:solidFill>
            <a:srgbClr val="E4F1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685800" y="5468112"/>
            <a:ext cx="45720" cy="621792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3" name="Oval 32"/>
          <p:cNvSpPr/>
          <p:nvPr/>
        </p:nvSpPr>
        <p:spPr>
          <a:xfrm>
            <a:off x="868680" y="5596128"/>
            <a:ext cx="164592" cy="164592"/>
          </a:xfrm>
          <a:prstGeom prst="ellipse">
            <a:avLst/>
          </a:prstGeom>
          <a:solidFill>
            <a:srgbClr val="E4F1F2"/>
          </a:solidFill>
          <a:ln w="12700">
            <a:solidFill>
              <a:srgbClr val="9CC7CB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34" name="Oval 33"/>
          <p:cNvSpPr/>
          <p:nvPr/>
        </p:nvSpPr>
        <p:spPr>
          <a:xfrm>
            <a:off x="1051560" y="5596128"/>
            <a:ext cx="164592" cy="164592"/>
          </a:xfrm>
          <a:prstGeom prst="ellipse">
            <a:avLst/>
          </a:prstGeom>
          <a:solidFill>
            <a:srgbClr val="E4F1F2"/>
          </a:solidFill>
          <a:ln w="12700">
            <a:solidFill>
              <a:srgbClr val="9CC7CB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35" name="Oval 34"/>
          <p:cNvSpPr/>
          <p:nvPr/>
        </p:nvSpPr>
        <p:spPr>
          <a:xfrm>
            <a:off x="1234440" y="5596128"/>
            <a:ext cx="164592" cy="164592"/>
          </a:xfrm>
          <a:prstGeom prst="ellipse">
            <a:avLst/>
          </a:prstGeom>
          <a:solidFill>
            <a:srgbClr val="E4F1F2"/>
          </a:solidFill>
          <a:ln w="12700">
            <a:solidFill>
              <a:srgbClr val="9CC7CB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36" name="Oval 35"/>
          <p:cNvSpPr/>
          <p:nvPr/>
        </p:nvSpPr>
        <p:spPr>
          <a:xfrm>
            <a:off x="868680" y="5779008"/>
            <a:ext cx="164592" cy="164592"/>
          </a:xfrm>
          <a:prstGeom prst="ellipse">
            <a:avLst/>
          </a:prstGeom>
          <a:solidFill>
            <a:srgbClr val="E4F1F2"/>
          </a:solidFill>
          <a:ln w="12700">
            <a:solidFill>
              <a:srgbClr val="9CC7CB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37" name="Oval 36"/>
          <p:cNvSpPr/>
          <p:nvPr/>
        </p:nvSpPr>
        <p:spPr>
          <a:xfrm>
            <a:off x="1051560" y="5779008"/>
            <a:ext cx="164592" cy="164592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38" name="Oval 37"/>
          <p:cNvSpPr/>
          <p:nvPr/>
        </p:nvSpPr>
        <p:spPr>
          <a:xfrm>
            <a:off x="1234440" y="5779008"/>
            <a:ext cx="164592" cy="164592"/>
          </a:xfrm>
          <a:prstGeom prst="ellipse">
            <a:avLst/>
          </a:prstGeom>
          <a:solidFill>
            <a:srgbClr val="E4F1F2"/>
          </a:solidFill>
          <a:ln w="12700">
            <a:solidFill>
              <a:srgbClr val="9CC7CB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39" name="Oval 38"/>
          <p:cNvSpPr/>
          <p:nvPr/>
        </p:nvSpPr>
        <p:spPr>
          <a:xfrm>
            <a:off x="868680" y="5961888"/>
            <a:ext cx="164592" cy="164592"/>
          </a:xfrm>
          <a:prstGeom prst="ellipse">
            <a:avLst/>
          </a:prstGeom>
          <a:solidFill>
            <a:srgbClr val="E4F1F2"/>
          </a:solidFill>
          <a:ln w="12700">
            <a:solidFill>
              <a:srgbClr val="9CC7CB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40" name="Oval 39"/>
          <p:cNvSpPr/>
          <p:nvPr/>
        </p:nvSpPr>
        <p:spPr>
          <a:xfrm>
            <a:off x="1051560" y="5961888"/>
            <a:ext cx="164592" cy="164592"/>
          </a:xfrm>
          <a:prstGeom prst="ellipse">
            <a:avLst/>
          </a:prstGeom>
          <a:solidFill>
            <a:srgbClr val="E4F1F2"/>
          </a:solidFill>
          <a:ln w="12700">
            <a:solidFill>
              <a:srgbClr val="9CC7CB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41" name="Oval 40"/>
          <p:cNvSpPr/>
          <p:nvPr/>
        </p:nvSpPr>
        <p:spPr>
          <a:xfrm>
            <a:off x="1234440" y="5961888"/>
            <a:ext cx="164592" cy="164592"/>
          </a:xfrm>
          <a:prstGeom prst="ellipse">
            <a:avLst/>
          </a:prstGeom>
          <a:solidFill>
            <a:srgbClr val="E4F1F2"/>
          </a:solidFill>
          <a:ln w="12700">
            <a:solidFill>
              <a:srgbClr val="9CC7CB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1737360" y="5577840"/>
            <a:ext cx="9509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2263A"/>
                </a:solidFill>
                <a:latin typeface="Microsoft YaHei"/>
                <a:ea typeface="Microsoft YaHei"/>
              </a:rPr>
              <a:t>一层 = 每个单元问一圈邻居；三层 = 看到三圈（≈ 1.4λ）。</a:t>
            </a:r>
            <a:r>
              <a:rPr sz="1200" b="0">
                <a:solidFill>
                  <a:srgbClr val="5E6B78"/>
                </a:solidFill>
                <a:latin typeface="Microsoft YaHei"/>
                <a:ea typeface="Microsoft YaHei"/>
              </a:rPr>
              <a:t>网络只管局部耦合，整孔径的干涉交给物理算子。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607040" y="6455664"/>
            <a:ext cx="914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2263A"/>
                </a:solidFill>
                <a:latin typeface="Microsoft YaHei"/>
                <a:ea typeface="Microsoft YaHei"/>
              </a:rPr>
              <a:t>02</a:t>
            </a:r>
            <a:r>
              <a:rPr sz="1000" b="0">
                <a:solidFill>
                  <a:srgbClr val="8A96A2"/>
                </a:solidFill>
                <a:latin typeface="Microsoft YaHei"/>
                <a:ea typeface="Microsoft YaHei"/>
              </a:rPr>
              <a:t> /10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E7C86"/>
                </a:solidFill>
                <a:latin typeface="Microsoft YaHei"/>
                <a:ea typeface="Microsoft YaHei"/>
              </a:rPr>
              <a:t>■ </a:t>
            </a:r>
            <a:r>
              <a:rPr sz="1200" b="1" spc="120">
                <a:solidFill>
                  <a:srgbClr val="0E7C86"/>
                </a:solidFill>
                <a:latin typeface="Microsoft YaHei"/>
                <a:ea typeface="Microsoft YaHei"/>
              </a:rPr>
              <a:t>第二部分 · 我们的流程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76656"/>
            <a:ext cx="1078992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 spc="-10">
                <a:solidFill>
                  <a:srgbClr val="12263A"/>
                </a:solidFill>
                <a:latin typeface="Microsoft YaHei"/>
                <a:ea typeface="Microsoft YaHei"/>
              </a:rPr>
              <a:t>从一串码，到一张方向图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16736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8"/>
                </a:solidFill>
                <a:latin typeface="Microsoft YaHei"/>
                <a:ea typeface="Microsoft YaHei"/>
              </a:rPr>
              <a:t>网络只算 400 个复数，8280 个方向由物理公式算出来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755648"/>
            <a:ext cx="10817352" cy="12801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685800" y="1938528"/>
            <a:ext cx="5120640" cy="566928"/>
          </a:xfrm>
          <a:prstGeom prst="rect">
            <a:avLst/>
          </a:prstGeom>
          <a:solidFill>
            <a:srgbClr val="E4F1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96112" y="2029968"/>
            <a:ext cx="47548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7C86"/>
                </a:solidFill>
                <a:latin typeface="Microsoft YaHei"/>
                <a:ea typeface="Microsoft YaHei"/>
              </a:rPr>
              <a:t>数据：CST 全波仿真</a:t>
            </a:r>
            <a:r>
              <a:rPr sz="1150" b="0">
                <a:solidFill>
                  <a:srgbClr val="5E6B78"/>
                </a:solidFill>
                <a:latin typeface="Microsoft YaHei"/>
                <a:ea typeface="Microsoft YaHei"/>
              </a:rPr>
              <a:t>　2000 例 · 306 秒/例 · 单频单极化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834640"/>
            <a:ext cx="1938528" cy="2103120"/>
          </a:xfrm>
          <a:prstGeom prst="rect">
            <a:avLst/>
          </a:prstGeom>
          <a:solidFill>
            <a:srgbClr val="FFFFFF"/>
          </a:solidFill>
          <a:ln w="22225">
            <a:solidFill>
              <a:srgbClr val="DDE3E9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685800" y="2834640"/>
            <a:ext cx="1938528" cy="54864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32104" y="298094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E7C86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" y="3273552"/>
            <a:ext cx="168249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2263A"/>
                </a:solidFill>
                <a:latin typeface="Microsoft YaHei"/>
                <a:ea typeface="Microsoft YaHei"/>
              </a:rPr>
              <a:t>码 → 阵列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" y="3639312"/>
            <a:ext cx="1682496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E6B78"/>
                </a:solidFill>
                <a:latin typeface="Microsoft YaHei"/>
                <a:ea typeface="Microsoft YaHei"/>
              </a:rPr>
              <a:t>100 bit
→ 400 单元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679192" y="3703320"/>
            <a:ext cx="182880" cy="182880"/>
          </a:xfrm>
          <a:prstGeom prst="rightArrow">
            <a:avLst/>
          </a:prstGeom>
          <a:solidFill>
            <a:srgbClr val="C2CCD6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2916936" y="2834640"/>
            <a:ext cx="1938528" cy="2103120"/>
          </a:xfrm>
          <a:prstGeom prst="rect">
            <a:avLst/>
          </a:prstGeom>
          <a:solidFill>
            <a:srgbClr val="FFFFFF"/>
          </a:solidFill>
          <a:ln w="22225">
            <a:solidFill>
              <a:srgbClr val="DDE3E9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2916936" y="2834640"/>
            <a:ext cx="1938528" cy="54864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063240" y="298094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E7C86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63240" y="3273552"/>
            <a:ext cx="168249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2263A"/>
                </a:solidFill>
                <a:latin typeface="Microsoft YaHei"/>
                <a:ea typeface="Microsoft YaHei"/>
              </a:rPr>
              <a:t>查单元库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63240" y="3639312"/>
            <a:ext cx="1682496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E6B78"/>
                </a:solidFill>
                <a:latin typeface="Microsoft YaHei"/>
                <a:ea typeface="Microsoft YaHei"/>
              </a:rPr>
              <a:t>每个单元
一个 Γ → q0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4910328" y="3703320"/>
            <a:ext cx="182880" cy="182880"/>
          </a:xfrm>
          <a:prstGeom prst="rightArrow">
            <a:avLst/>
          </a:prstGeom>
          <a:solidFill>
            <a:srgbClr val="C2CCD6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5148072" y="2834640"/>
            <a:ext cx="1938528" cy="2103120"/>
          </a:xfrm>
          <a:prstGeom prst="rect">
            <a:avLst/>
          </a:prstGeom>
          <a:solidFill>
            <a:srgbClr val="FFFFFF"/>
          </a:solidFill>
          <a:ln w="22225">
            <a:solidFill>
              <a:srgbClr val="DDE3E9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5148072" y="2834640"/>
            <a:ext cx="1938528" cy="54864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294376" y="298094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E7C86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94376" y="3273552"/>
            <a:ext cx="168249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2263A"/>
                </a:solidFill>
                <a:latin typeface="Microsoft YaHei"/>
                <a:ea typeface="Microsoft YaHei"/>
              </a:rPr>
              <a:t>GNN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94376" y="3639312"/>
            <a:ext cx="1682496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E6B78"/>
                </a:solidFill>
                <a:latin typeface="Microsoft YaHei"/>
                <a:ea typeface="Microsoft YaHei"/>
              </a:rPr>
              <a:t>每单元 Δq
＋ 全局 b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7141464" y="3703320"/>
            <a:ext cx="182880" cy="182880"/>
          </a:xfrm>
          <a:prstGeom prst="rightArrow">
            <a:avLst/>
          </a:prstGeom>
          <a:solidFill>
            <a:srgbClr val="C2CCD6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7379208" y="2834640"/>
            <a:ext cx="1938528" cy="2103120"/>
          </a:xfrm>
          <a:prstGeom prst="rect">
            <a:avLst/>
          </a:prstGeom>
          <a:solidFill>
            <a:srgbClr val="FFFFFF"/>
          </a:solidFill>
          <a:ln w="22225">
            <a:solidFill>
              <a:srgbClr val="DDE3E9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7379208" y="2834640"/>
            <a:ext cx="1938528" cy="54864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525512" y="298094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E7C86"/>
                </a:solidFill>
                <a:latin typeface="Microsoft YaHei"/>
                <a:ea typeface="Microsoft YaHei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25512" y="3273552"/>
            <a:ext cx="168249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2263A"/>
                </a:solidFill>
                <a:latin typeface="Microsoft YaHei"/>
                <a:ea typeface="Microsoft YaHei"/>
              </a:rPr>
              <a:t>合成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25512" y="3639312"/>
            <a:ext cx="1682496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E6B78"/>
                </a:solidFill>
                <a:latin typeface="Microsoft YaHei"/>
                <a:ea typeface="Microsoft YaHei"/>
              </a:rPr>
              <a:t>q = q0
+ Δq + b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9372600" y="3703320"/>
            <a:ext cx="182880" cy="182880"/>
          </a:xfrm>
          <a:prstGeom prst="rightArrow">
            <a:avLst/>
          </a:prstGeom>
          <a:solidFill>
            <a:srgbClr val="C2CCD6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9610344" y="2834640"/>
            <a:ext cx="1938528" cy="2103120"/>
          </a:xfrm>
          <a:prstGeom prst="rect">
            <a:avLst/>
          </a:prstGeom>
          <a:solidFill>
            <a:srgbClr val="FFFFFF"/>
          </a:solidFill>
          <a:ln w="22225">
            <a:solidFill>
              <a:srgbClr val="DDE3E9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9610344" y="2834640"/>
            <a:ext cx="1938528" cy="54864"/>
          </a:xfrm>
          <a:prstGeom prst="rect">
            <a:avLst/>
          </a:prstGeom>
          <a:solidFill>
            <a:srgbClr val="C97A24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9756648" y="298094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E7C86"/>
                </a:solidFill>
                <a:latin typeface="Microsoft YaHei"/>
                <a:ea typeface="Microsoft YaHei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56648" y="3273552"/>
            <a:ext cx="168249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2263A"/>
                </a:solidFill>
                <a:latin typeface="Microsoft YaHei"/>
                <a:ea typeface="Microsoft YaHei"/>
              </a:rPr>
              <a:t>物理算子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56648" y="3639312"/>
            <a:ext cx="1682496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E6B78"/>
                </a:solidFill>
                <a:latin typeface="Microsoft YaHei"/>
                <a:ea typeface="Microsoft YaHei"/>
              </a:rPr>
              <a:t>→ 8280 个
方向的 σ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" y="5175504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E6B78"/>
                </a:solidFill>
                <a:latin typeface="Microsoft YaHei"/>
                <a:ea typeface="Microsoft YaHei"/>
              </a:rPr>
              <a:t>训练时用 CST 的方向图当标签；推理时一次前向出整张图，不再跑仿真。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183879" y="5102352"/>
            <a:ext cx="3310128" cy="566928"/>
          </a:xfrm>
          <a:prstGeom prst="rect">
            <a:avLst/>
          </a:prstGeom>
          <a:solidFill>
            <a:srgbClr val="F4F6F8"/>
          </a:solidFill>
          <a:ln w="15875">
            <a:solidFill>
              <a:srgbClr val="DDE3E9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8366760" y="5193792"/>
            <a:ext cx="30175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B3845"/>
                </a:solidFill>
                <a:latin typeface="Microsoft YaHei"/>
                <a:ea typeface="Microsoft YaHei"/>
              </a:rPr>
              <a:t>损失：dB 域 asinh 压缩 MSE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85800" y="5989320"/>
            <a:ext cx="10817352" cy="457200"/>
          </a:xfrm>
          <a:prstGeom prst="rect">
            <a:avLst/>
          </a:prstGeom>
          <a:solidFill>
            <a:srgbClr val="12263A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896112" y="6089904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FFFFFF"/>
                </a:solidFill>
                <a:latin typeface="Microsoft YaHei"/>
                <a:ea typeface="Microsoft YaHei"/>
              </a:rPr>
              <a:t>关键：网络不学“波怎么传播”，只学“每个单元的权重偏了多少”。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607040" y="6455664"/>
            <a:ext cx="914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2263A"/>
                </a:solidFill>
                <a:latin typeface="Microsoft YaHei"/>
                <a:ea typeface="Microsoft YaHei"/>
              </a:rPr>
              <a:t>03</a:t>
            </a:r>
            <a:r>
              <a:rPr sz="1000" b="0">
                <a:solidFill>
                  <a:srgbClr val="8A96A2"/>
                </a:solidFill>
                <a:latin typeface="Microsoft YaHei"/>
                <a:ea typeface="Microsoft YaHei"/>
              </a:rPr>
              <a:t> /10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E7C86"/>
                </a:solidFill>
                <a:latin typeface="Microsoft YaHei"/>
                <a:ea typeface="Microsoft YaHei"/>
              </a:rPr>
              <a:t>■ </a:t>
            </a:r>
            <a:r>
              <a:rPr sz="1200" b="1" spc="120">
                <a:solidFill>
                  <a:srgbClr val="0E7C86"/>
                </a:solidFill>
                <a:latin typeface="Microsoft YaHei"/>
                <a:ea typeface="Microsoft YaHei"/>
              </a:rPr>
              <a:t>第三部分 · 节点与边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76656"/>
            <a:ext cx="1078992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 spc="-10">
                <a:solidFill>
                  <a:srgbClr val="12263A"/>
                </a:solidFill>
                <a:latin typeface="Microsoft YaHei"/>
                <a:ea typeface="Microsoft YaHei"/>
              </a:rPr>
              <a:t>节点和边，装的全是物理量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16736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8"/>
                </a:solidFill>
                <a:latin typeface="Microsoft YaHei"/>
                <a:ea typeface="Microsoft YaHei"/>
              </a:rPr>
              <a:t>400 个节点、2964 条边；每个数都有物理含义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755648"/>
            <a:ext cx="10817352" cy="12801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685800" y="1920240"/>
            <a:ext cx="5230368" cy="3767328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685800" y="1920240"/>
            <a:ext cx="45720" cy="3767328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0120" y="2048256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2263A"/>
                </a:solidFill>
                <a:latin typeface="Microsoft YaHei"/>
                <a:ea typeface="Microsoft YaHei"/>
              </a:rPr>
              <a:t>节点：400 个单元（9 个数）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54203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E7C86"/>
                </a:solidFill>
                <a:latin typeface="Microsoft YaHei"/>
                <a:ea typeface="Microsoft YaHei"/>
              </a:rPr>
              <a:t>身份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2542032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B3845"/>
                </a:solidFill>
                <a:latin typeface="Microsoft YaHei"/>
                <a:ea typeface="Microsoft YaHei"/>
              </a:rPr>
              <a:t>码位 0/1、±1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2834639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8A96A2"/>
                </a:solidFill>
                <a:latin typeface="Microsoft YaHei"/>
                <a:ea typeface="Microsoft YaHei"/>
              </a:rPr>
              <a:t>这一格是哪种相位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310127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E7C86"/>
                </a:solidFill>
                <a:latin typeface="Microsoft YaHei"/>
                <a:ea typeface="Microsoft YaHei"/>
              </a:rPr>
              <a:t>位置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3310127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B3845"/>
                </a:solidFill>
                <a:latin typeface="Microsoft YaHei"/>
                <a:ea typeface="Microsoft YaHei"/>
              </a:rPr>
              <a:t>x/λ、y/λ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3602735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8A96A2"/>
                </a:solidFill>
                <a:latin typeface="Microsoft YaHei"/>
                <a:ea typeface="Microsoft YaHei"/>
              </a:rPr>
              <a:t>在阵列的哪个位置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4078224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E7C86"/>
                </a:solidFill>
                <a:latin typeface="Microsoft YaHei"/>
                <a:ea typeface="Microsoft YaHei"/>
              </a:rPr>
              <a:t>物理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83080" y="4078224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B3845"/>
                </a:solidFill>
                <a:latin typeface="Microsoft YaHei"/>
                <a:ea typeface="Microsoft YaHei"/>
              </a:rPr>
              <a:t>Γ 实部、虚部、|Γ|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83080" y="4370832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8A96A2"/>
                </a:solidFill>
                <a:latin typeface="Microsoft YaHei"/>
                <a:ea typeface="Microsoft YaHei"/>
              </a:rPr>
              <a:t>单元本身反多少、反多强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484632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E7C86"/>
                </a:solidFill>
                <a:latin typeface="Microsoft YaHei"/>
                <a:ea typeface="Microsoft YaHei"/>
              </a:rPr>
              <a:t>边界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4846320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B3845"/>
                </a:solidFill>
                <a:latin typeface="Microsoft YaHei"/>
                <a:ea typeface="Microsoft YaHei"/>
              </a:rPr>
              <a:t>是否边缘、法向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3080" y="5138928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8A96A2"/>
                </a:solidFill>
                <a:latin typeface="Microsoft YaHei"/>
                <a:ea typeface="Microsoft YaHei"/>
              </a:rPr>
              <a:t>邻居少不少、是不是平面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17920" y="1920240"/>
            <a:ext cx="5285232" cy="3767328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6217920" y="1920240"/>
            <a:ext cx="45720" cy="3767328"/>
          </a:xfrm>
          <a:prstGeom prst="rect">
            <a:avLst/>
          </a:prstGeom>
          <a:solidFill>
            <a:srgbClr val="C97A24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492240" y="2048256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2263A"/>
                </a:solidFill>
                <a:latin typeface="Microsoft YaHei"/>
                <a:ea typeface="Microsoft YaHei"/>
              </a:rPr>
              <a:t>边：2964 条（5 个数）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254203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97A24"/>
                </a:solidFill>
                <a:latin typeface="Microsoft YaHei"/>
                <a:ea typeface="Microsoft YaHei"/>
              </a:rPr>
              <a:t>位移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0" y="2542032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B3845"/>
                </a:solidFill>
                <a:latin typeface="Microsoft YaHei"/>
                <a:ea typeface="Microsoft YaHei"/>
              </a:rPr>
              <a:t>Δx/λ、Δy/λ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0" y="2834639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8A96A2"/>
                </a:solidFill>
                <a:latin typeface="Microsoft YaHei"/>
                <a:ea typeface="Microsoft YaHei"/>
              </a:rPr>
              <a:t>邻居在哪个方向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3310127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97A24"/>
                </a:solidFill>
                <a:latin typeface="Microsoft YaHei"/>
                <a:ea typeface="Microsoft YaHei"/>
              </a:rPr>
              <a:t>距离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0" y="3310127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B3845"/>
                </a:solidFill>
                <a:latin typeface="Microsoft YaHei"/>
                <a:ea typeface="Microsoft YaHei"/>
              </a:rPr>
              <a:t>r/λ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0" y="3602735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8A96A2"/>
                </a:solidFill>
                <a:latin typeface="Microsoft YaHei"/>
                <a:ea typeface="Microsoft YaHei"/>
              </a:rPr>
              <a:t>隔了多远，耦合多强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4078224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97A24"/>
                </a:solidFill>
                <a:latin typeface="Microsoft YaHei"/>
                <a:ea typeface="Microsoft YaHei"/>
              </a:rPr>
              <a:t>方位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0" y="4078224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B3845"/>
                </a:solidFill>
                <a:latin typeface="Microsoft YaHei"/>
                <a:ea typeface="Microsoft YaHei"/>
              </a:rPr>
              <a:t>cos φ、sin 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0" y="4370832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8A96A2"/>
                </a:solidFill>
                <a:latin typeface="Microsoft YaHei"/>
                <a:ea typeface="Microsoft YaHei"/>
              </a:rPr>
              <a:t>正对还是斜着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92240" y="4956048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E6B78"/>
                </a:solidFill>
                <a:latin typeface="Microsoft YaHei"/>
                <a:ea typeface="Microsoft YaHei"/>
              </a:rPr>
              <a:t>每格只连上下左右和四个对角，不做周期延拓。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85800" y="5989320"/>
            <a:ext cx="10817352" cy="457200"/>
          </a:xfrm>
          <a:prstGeom prst="rect">
            <a:avLst/>
          </a:prstGeom>
          <a:solidFill>
            <a:srgbClr val="12263A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896112" y="6089904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FFFFFF"/>
                </a:solidFill>
                <a:latin typeface="Microsoft YaHei"/>
                <a:ea typeface="Microsoft YaHei"/>
              </a:rPr>
              <a:t>边缘单元只有 3–5 个邻居，靠“是否边缘”这一位告诉网络：别把它当内部单元。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07040" y="6455664"/>
            <a:ext cx="914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2263A"/>
                </a:solidFill>
                <a:latin typeface="Microsoft YaHei"/>
                <a:ea typeface="Microsoft YaHei"/>
              </a:rPr>
              <a:t>04</a:t>
            </a:r>
            <a:r>
              <a:rPr sz="1000" b="0">
                <a:solidFill>
                  <a:srgbClr val="8A96A2"/>
                </a:solidFill>
                <a:latin typeface="Microsoft YaHei"/>
                <a:ea typeface="Microsoft YaHei"/>
              </a:rPr>
              <a:t> /10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E7C86"/>
                </a:solidFill>
                <a:latin typeface="Microsoft YaHei"/>
                <a:ea typeface="Microsoft YaHei"/>
              </a:rPr>
              <a:t>■ </a:t>
            </a:r>
            <a:r>
              <a:rPr sz="1200" b="1" spc="120">
                <a:solidFill>
                  <a:srgbClr val="0E7C86"/>
                </a:solidFill>
                <a:latin typeface="Microsoft YaHei"/>
                <a:ea typeface="Microsoft YaHei"/>
              </a:rPr>
              <a:t>第四部分 · 网络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76656"/>
            <a:ext cx="1078992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 spc="-10">
                <a:solidFill>
                  <a:srgbClr val="12263A"/>
                </a:solidFill>
                <a:latin typeface="Microsoft YaHei"/>
                <a:ea typeface="Microsoft YaHei"/>
              </a:rPr>
              <a:t>输入 400 个单元，输出 400 个修正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16736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8"/>
                </a:solidFill>
                <a:latin typeface="Microsoft YaHei"/>
                <a:ea typeface="Microsoft YaHei"/>
              </a:rPr>
              <a:t>3 层消息传递；每单元出 2 个数，整张图再出 1 个复数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755648"/>
            <a:ext cx="10817352" cy="12801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685800" y="1920240"/>
            <a:ext cx="2395728" cy="1024128"/>
          </a:xfrm>
          <a:prstGeom prst="rect">
            <a:avLst/>
          </a:prstGeom>
          <a:solidFill>
            <a:srgbClr val="FFFFFF"/>
          </a:solidFill>
          <a:ln w="22225">
            <a:solidFill>
              <a:srgbClr val="DDE3E9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685800" y="1920240"/>
            <a:ext cx="2395728" cy="4572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50392" y="2066543"/>
            <a:ext cx="21214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2263A"/>
                </a:solidFill>
                <a:latin typeface="Microsoft YaHei"/>
                <a:ea typeface="Microsoft YaHei"/>
              </a:rPr>
              <a:t>输入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2432304"/>
            <a:ext cx="212140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E6B78"/>
                </a:solidFill>
                <a:latin typeface="Microsoft YaHei"/>
                <a:ea typeface="Microsoft YaHei"/>
              </a:rPr>
              <a:t>400 单元 × 9 维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127248" y="2340864"/>
            <a:ext cx="182880" cy="182880"/>
          </a:xfrm>
          <a:prstGeom prst="rightArrow">
            <a:avLst/>
          </a:prstGeom>
          <a:solidFill>
            <a:srgbClr val="C2CCD6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3355848" y="1920240"/>
            <a:ext cx="2395728" cy="1024128"/>
          </a:xfrm>
          <a:prstGeom prst="rect">
            <a:avLst/>
          </a:prstGeom>
          <a:solidFill>
            <a:srgbClr val="FFFFFF"/>
          </a:solidFill>
          <a:ln w="22225">
            <a:solidFill>
              <a:srgbClr val="DDE3E9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3355848" y="1920240"/>
            <a:ext cx="2395728" cy="4572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520440" y="2066543"/>
            <a:ext cx="21214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2263A"/>
                </a:solidFill>
                <a:latin typeface="Microsoft YaHei"/>
                <a:ea typeface="Microsoft YaHei"/>
              </a:rPr>
              <a:t>消息传递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2432304"/>
            <a:ext cx="212140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E6B78"/>
                </a:solidFill>
                <a:latin typeface="Microsoft YaHei"/>
                <a:ea typeface="Microsoft YaHei"/>
              </a:rPr>
              <a:t>3 层，每层 64 维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797296" y="2340864"/>
            <a:ext cx="182880" cy="182880"/>
          </a:xfrm>
          <a:prstGeom prst="rightArrow">
            <a:avLst/>
          </a:prstGeom>
          <a:solidFill>
            <a:srgbClr val="C2CCD6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6025896" y="1920240"/>
            <a:ext cx="2395728" cy="1024128"/>
          </a:xfrm>
          <a:prstGeom prst="rect">
            <a:avLst/>
          </a:prstGeom>
          <a:solidFill>
            <a:srgbClr val="FFFFFF"/>
          </a:solidFill>
          <a:ln w="22225">
            <a:solidFill>
              <a:srgbClr val="DDE3E9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6025896" y="1920240"/>
            <a:ext cx="2395728" cy="4572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190488" y="2066543"/>
            <a:ext cx="21214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2263A"/>
                </a:solidFill>
                <a:latin typeface="Microsoft YaHei"/>
                <a:ea typeface="Microsoft YaHei"/>
              </a:rPr>
              <a:t>两个输出头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90488" y="2432304"/>
            <a:ext cx="212140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E6B78"/>
                </a:solidFill>
                <a:latin typeface="Microsoft YaHei"/>
                <a:ea typeface="Microsoft YaHei"/>
              </a:rPr>
              <a:t>每节点 2 个 ＋ 整图 1 个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8467344" y="2340864"/>
            <a:ext cx="182880" cy="182880"/>
          </a:xfrm>
          <a:prstGeom prst="rightArrow">
            <a:avLst/>
          </a:prstGeom>
          <a:solidFill>
            <a:srgbClr val="C2CCD6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8695944" y="1920240"/>
            <a:ext cx="2395728" cy="1024128"/>
          </a:xfrm>
          <a:prstGeom prst="rect">
            <a:avLst/>
          </a:prstGeom>
          <a:solidFill>
            <a:srgbClr val="FFFFFF"/>
          </a:solidFill>
          <a:ln w="22225">
            <a:solidFill>
              <a:srgbClr val="DDE3E9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8695944" y="1920240"/>
            <a:ext cx="2395728" cy="4572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860536" y="2066543"/>
            <a:ext cx="21214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2263A"/>
                </a:solidFill>
                <a:latin typeface="Microsoft YaHei"/>
                <a:ea typeface="Microsoft YaHei"/>
              </a:rPr>
              <a:t>合成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0536" y="2432304"/>
            <a:ext cx="212140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E6B78"/>
                </a:solidFill>
                <a:latin typeface="Microsoft YaHei"/>
                <a:ea typeface="Microsoft YaHei"/>
              </a:rPr>
              <a:t>q = q0 + Δq + b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3200400"/>
            <a:ext cx="2633472" cy="2212848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859536" y="3346704"/>
            <a:ext cx="365760" cy="365760"/>
          </a:xfrm>
          <a:prstGeom prst="ellipse">
            <a:avLst/>
          </a:prstGeom>
          <a:noFill/>
          <a:ln w="19050">
            <a:solidFill>
              <a:srgbClr val="0E7C86"/>
            </a:solidFill>
          </a:ln>
          <a:effectLst/>
        </p:spPr>
        <p:txBody>
          <a:bodyPr rtlCol="0" anchor="ctr" lIns="0" rIns="0" tIns="0" bIns="0"/>
          <a:lstStyle/>
          <a:p>
            <a:pPr algn="ctr"/>
            <a:r>
              <a:rPr sz="1150" b="1">
                <a:solidFill>
                  <a:srgbClr val="0E7C86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16736" y="3383280"/>
            <a:ext cx="187451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2263A"/>
                </a:solidFill>
                <a:latin typeface="Microsoft YaHei"/>
                <a:ea typeface="Microsoft YaHei"/>
              </a:rPr>
              <a:t>零初始化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" y="3895344"/>
            <a:ext cx="22860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B3845"/>
                </a:solidFill>
                <a:latin typeface="Microsoft YaHei"/>
                <a:ea typeface="Microsoft YaHei"/>
              </a:rPr>
              <a:t>一开始 Δq = b = 0，输出正好等于 M0。之后涨的每一分，都是学出来的。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9536" y="4937760"/>
            <a:ext cx="230428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A96A2"/>
                </a:solidFill>
                <a:latin typeface="Microsoft YaHei"/>
                <a:ea typeface="Microsoft YaHei"/>
              </a:rPr>
              <a:t>→ 改进可归因；分布外还能退回 M0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419856" y="3200400"/>
            <a:ext cx="2633472" cy="2212848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2" name="Oval 31"/>
          <p:cNvSpPr/>
          <p:nvPr/>
        </p:nvSpPr>
        <p:spPr>
          <a:xfrm>
            <a:off x="3621024" y="3346704"/>
            <a:ext cx="365760" cy="365760"/>
          </a:xfrm>
          <a:prstGeom prst="ellipse">
            <a:avLst/>
          </a:prstGeom>
          <a:noFill/>
          <a:ln w="19050">
            <a:solidFill>
              <a:srgbClr val="0E7C86"/>
            </a:solidFill>
          </a:ln>
          <a:effectLst/>
        </p:spPr>
        <p:txBody>
          <a:bodyPr rtlCol="0" anchor="ctr" lIns="0" rIns="0" tIns="0" bIns="0"/>
          <a:lstStyle/>
          <a:p>
            <a:pPr algn="ctr"/>
            <a:r>
              <a:rPr sz="1150" b="1">
                <a:solidFill>
                  <a:srgbClr val="0E7C86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78224" y="3383280"/>
            <a:ext cx="187451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2263A"/>
                </a:solidFill>
                <a:latin typeface="Microsoft YaHei"/>
                <a:ea typeface="Microsoft YaHei"/>
              </a:rPr>
              <a:t>去均值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21024" y="3895344"/>
            <a:ext cx="22860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B3845"/>
                </a:solidFill>
                <a:latin typeface="Microsoft YaHei"/>
                <a:ea typeface="Microsoft YaHei"/>
              </a:rPr>
              <a:t>强制 Δq 的均值为 0，让 b 专门管“整块板一起偏”，两者不打架。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21024" y="4937760"/>
            <a:ext cx="230428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A96A2"/>
                </a:solidFill>
                <a:latin typeface="Microsoft YaHei"/>
                <a:ea typeface="Microsoft YaHei"/>
              </a:rPr>
              <a:t>→ |b| 才有物理意义（≈ 0.37）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81344" y="3200400"/>
            <a:ext cx="2633472" cy="2212848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7" name="Oval 36"/>
          <p:cNvSpPr/>
          <p:nvPr/>
        </p:nvSpPr>
        <p:spPr>
          <a:xfrm>
            <a:off x="6382512" y="3346704"/>
            <a:ext cx="365760" cy="365760"/>
          </a:xfrm>
          <a:prstGeom prst="ellipse">
            <a:avLst/>
          </a:prstGeom>
          <a:noFill/>
          <a:ln w="19050">
            <a:solidFill>
              <a:srgbClr val="0E7C86"/>
            </a:solidFill>
          </a:ln>
          <a:effectLst/>
        </p:spPr>
        <p:txBody>
          <a:bodyPr rtlCol="0" anchor="ctr" lIns="0" rIns="0" tIns="0" bIns="0"/>
          <a:lstStyle/>
          <a:p>
            <a:pPr algn="ctr"/>
            <a:r>
              <a:rPr sz="1150" b="1">
                <a:solidFill>
                  <a:srgbClr val="0E7C86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83280"/>
            <a:ext cx="187451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2263A"/>
                </a:solidFill>
                <a:latin typeface="Microsoft YaHei"/>
                <a:ea typeface="Microsoft YaHei"/>
              </a:rPr>
              <a:t>物理读出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82512" y="3895344"/>
            <a:ext cx="22860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B3845"/>
                </a:solidFill>
                <a:latin typeface="Microsoft YaHei"/>
                <a:ea typeface="Microsoft YaHei"/>
              </a:rPr>
              <a:t>不学 8280 个方向，用衍射公式算。可微，能直接做反设计。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82512" y="4937760"/>
            <a:ext cx="230428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A96A2"/>
                </a:solidFill>
                <a:latin typeface="Microsoft YaHei"/>
                <a:ea typeface="Microsoft YaHei"/>
              </a:rPr>
              <a:t>→ 反设计只需对 400 个 q 求梯度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942832" y="3200400"/>
            <a:ext cx="2633472" cy="2212848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2" name="Oval 41"/>
          <p:cNvSpPr/>
          <p:nvPr/>
        </p:nvSpPr>
        <p:spPr>
          <a:xfrm>
            <a:off x="9144000" y="3346704"/>
            <a:ext cx="365760" cy="365760"/>
          </a:xfrm>
          <a:prstGeom prst="ellipse">
            <a:avLst/>
          </a:prstGeom>
          <a:noFill/>
          <a:ln w="19050">
            <a:solidFill>
              <a:srgbClr val="0E7C86"/>
            </a:solidFill>
          </a:ln>
          <a:effectLst/>
        </p:spPr>
        <p:txBody>
          <a:bodyPr rtlCol="0" anchor="ctr" lIns="0" rIns="0" tIns="0" bIns="0"/>
          <a:lstStyle/>
          <a:p>
            <a:pPr algn="ctr"/>
            <a:r>
              <a:rPr sz="1150" b="1">
                <a:solidFill>
                  <a:srgbClr val="0E7C86"/>
                </a:solidFill>
                <a:latin typeface="Microsoft YaHei"/>
                <a:ea typeface="Microsoft YaHei"/>
              </a:rPr>
              <a:t>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01200" y="3383280"/>
            <a:ext cx="187451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2263A"/>
                </a:solidFill>
                <a:latin typeface="Microsoft YaHei"/>
                <a:ea typeface="Microsoft YaHei"/>
              </a:rPr>
              <a:t>复数拆两路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0" y="3895344"/>
            <a:ext cx="22860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B3845"/>
                </a:solidFill>
                <a:latin typeface="Microsoft YaHei"/>
                <a:ea typeface="Microsoft YaHei"/>
              </a:rPr>
              <a:t>实部、虚部分开算，避开复数求导的坑，行为完全可预期。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0" y="4937760"/>
            <a:ext cx="230428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A96A2"/>
                </a:solidFill>
                <a:latin typeface="Microsoft YaHei"/>
                <a:ea typeface="Microsoft YaHei"/>
              </a:rPr>
              <a:t>→ 训练稳定，结果可复现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85800" y="5989320"/>
            <a:ext cx="10817352" cy="457200"/>
          </a:xfrm>
          <a:prstGeom prst="rect">
            <a:avLst/>
          </a:prstGeom>
          <a:solidFill>
            <a:srgbClr val="12263A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896112" y="6089904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FFFFFF"/>
                </a:solidFill>
                <a:latin typeface="Microsoft YaHei"/>
                <a:ea typeface="Microsoft YaHei"/>
              </a:rPr>
              <a:t>四个设计都为同一件事：让网络只学“物理算不准的那一点”，其余交给物理。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607040" y="6455664"/>
            <a:ext cx="914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2263A"/>
                </a:solidFill>
                <a:latin typeface="Microsoft YaHei"/>
                <a:ea typeface="Microsoft YaHei"/>
              </a:rPr>
              <a:t>05</a:t>
            </a:r>
            <a:r>
              <a:rPr sz="1000" b="0">
                <a:solidFill>
                  <a:srgbClr val="8A96A2"/>
                </a:solidFill>
                <a:latin typeface="Microsoft YaHei"/>
                <a:ea typeface="Microsoft YaHei"/>
              </a:rPr>
              <a:t> /10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E7C86"/>
                </a:solidFill>
                <a:latin typeface="Microsoft YaHei"/>
                <a:ea typeface="Microsoft YaHei"/>
              </a:rPr>
              <a:t>■ </a:t>
            </a:r>
            <a:r>
              <a:rPr sz="1200" b="1" spc="120">
                <a:solidFill>
                  <a:srgbClr val="0E7C86"/>
                </a:solidFill>
                <a:latin typeface="Microsoft YaHei"/>
                <a:ea typeface="Microsoft YaHei"/>
              </a:rPr>
              <a:t>第四部分 · 补充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76656"/>
            <a:ext cx="1078992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 spc="-10">
                <a:solidFill>
                  <a:srgbClr val="12263A"/>
                </a:solidFill>
                <a:latin typeface="Microsoft YaHei"/>
                <a:ea typeface="Microsoft YaHei"/>
              </a:rPr>
              <a:t>q 是什么：四个符号，一次讲清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16736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8"/>
                </a:solidFill>
                <a:latin typeface="Microsoft YaHei"/>
                <a:ea typeface="Microsoft YaHei"/>
              </a:rPr>
              <a:t>q 是每个单元的复权重（幅度＋相位），它决定这一格怎么反波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755648"/>
            <a:ext cx="10817352" cy="12801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685800" y="1920240"/>
            <a:ext cx="10817352" cy="713232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05840" y="2048256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2263A"/>
                </a:solidFill>
                <a:latin typeface="Microsoft YaHei"/>
                <a:ea typeface="Microsoft YaHei"/>
              </a:rPr>
              <a:t>q</a:t>
            </a:r>
            <a:r>
              <a:rPr sz="2400" b="0">
                <a:solidFill>
                  <a:srgbClr val="5E6B78"/>
                </a:solidFill>
                <a:latin typeface="Microsoft YaHei"/>
                <a:ea typeface="Microsoft YaHei"/>
              </a:rPr>
              <a:t> = </a:t>
            </a:r>
            <a:r>
              <a:rPr sz="2600" b="1">
                <a:solidFill>
                  <a:srgbClr val="0E7C86"/>
                </a:solidFill>
                <a:latin typeface="Microsoft YaHei"/>
                <a:ea typeface="Microsoft YaHei"/>
              </a:rPr>
              <a:t>q0</a:t>
            </a:r>
            <a:r>
              <a:rPr sz="1300" b="0">
                <a:solidFill>
                  <a:srgbClr val="0E7C86"/>
                </a:solidFill>
                <a:latin typeface="Microsoft YaHei"/>
                <a:ea typeface="Microsoft YaHei"/>
              </a:rPr>
              <a:t>（标称）</a:t>
            </a:r>
            <a:r>
              <a:rPr sz="2000" b="0">
                <a:solidFill>
                  <a:srgbClr val="5E6B78"/>
                </a:solidFill>
                <a:latin typeface="Microsoft YaHei"/>
                <a:ea typeface="Microsoft YaHei"/>
              </a:rPr>
              <a:t>  +  </a:t>
            </a:r>
            <a:r>
              <a:rPr sz="2600" b="1">
                <a:solidFill>
                  <a:srgbClr val="C97A24"/>
                </a:solidFill>
                <a:latin typeface="Microsoft YaHei"/>
                <a:ea typeface="Microsoft YaHei"/>
              </a:rPr>
              <a:t>Δq</a:t>
            </a:r>
            <a:r>
              <a:rPr sz="1300" b="0">
                <a:solidFill>
                  <a:srgbClr val="C97A24"/>
                </a:solidFill>
                <a:latin typeface="Microsoft YaHei"/>
                <a:ea typeface="Microsoft YaHei"/>
              </a:rPr>
              <a:t>（逐单元修正）</a:t>
            </a:r>
            <a:r>
              <a:rPr sz="2000" b="0">
                <a:solidFill>
                  <a:srgbClr val="5E6B78"/>
                </a:solidFill>
                <a:latin typeface="Microsoft YaHei"/>
                <a:ea typeface="Microsoft YaHei"/>
              </a:rPr>
              <a:t>  +  </a:t>
            </a:r>
            <a:r>
              <a:rPr sz="2600" b="1">
                <a:solidFill>
                  <a:srgbClr val="12263A"/>
                </a:solidFill>
                <a:latin typeface="Microsoft YaHei"/>
                <a:ea typeface="Microsoft YaHei"/>
              </a:rPr>
              <a:t>b</a:t>
            </a:r>
            <a:r>
              <a:rPr sz="1300" b="0">
                <a:solidFill>
                  <a:srgbClr val="12263A"/>
                </a:solidFill>
                <a:latin typeface="Microsoft YaHei"/>
                <a:ea typeface="Microsoft YaHei"/>
              </a:rPr>
              <a:t>（共同偏移）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798064"/>
            <a:ext cx="11887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0E7C86"/>
                </a:solidFill>
                <a:latin typeface="Microsoft YaHei"/>
                <a:ea typeface="Microsoft YaHei"/>
              </a:rPr>
              <a:t>q0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798064"/>
            <a:ext cx="57607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B3845"/>
                </a:solidFill>
                <a:latin typeface="Microsoft YaHei"/>
                <a:ea typeface="Microsoft YaHei"/>
              </a:rPr>
              <a:t>单元库里查出来的标称权重。这一格是 0 还是 1，就决定了它；0 参数。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2798064"/>
            <a:ext cx="36118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8A96A2"/>
                </a:solidFill>
                <a:latin typeface="Microsoft YaHei"/>
                <a:ea typeface="Microsoft YaHei"/>
              </a:rPr>
              <a:t>只有两个值：0.867∠−5.3° 和 0.852∠174.6°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493008"/>
            <a:ext cx="11887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C97A24"/>
                </a:solidFill>
                <a:latin typeface="Microsoft YaHei"/>
                <a:ea typeface="Microsoft YaHei"/>
              </a:rPr>
              <a:t>Δq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3493008"/>
            <a:ext cx="57607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B3845"/>
                </a:solidFill>
                <a:latin typeface="Microsoft YaHei"/>
                <a:ea typeface="Microsoft YaHei"/>
              </a:rPr>
              <a:t>GNN 吐出来的逐单元修正，400 个复数。补的是邻居耦合、边缘效应带来的偏差。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18120" y="3493008"/>
            <a:ext cx="36118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8A96A2"/>
                </a:solidFill>
                <a:latin typeface="Microsoft YaHei"/>
                <a:ea typeface="Microsoft YaHei"/>
              </a:rPr>
              <a:t>逐格不同，同一个宏比特里的 4 个单元也能不一样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187952"/>
            <a:ext cx="11887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2263A"/>
                </a:solidFill>
                <a:latin typeface="Microsoft YaHei"/>
                <a:ea typeface="Microsoft YaHei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4187952"/>
            <a:ext cx="57607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B3845"/>
                </a:solidFill>
                <a:latin typeface="Microsoft YaHei"/>
                <a:ea typeface="Microsoft YaHei"/>
              </a:rPr>
              <a:t>整张图平均出来的共同偏移，1 个复数。补的是整块板朝法向一起多反的那一点。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4187952"/>
            <a:ext cx="36118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8A96A2"/>
                </a:solidFill>
                <a:latin typeface="Microsoft YaHei"/>
                <a:ea typeface="Microsoft YaHei"/>
              </a:rPr>
              <a:t>所有单元共用同一个 b，网络自己学到 |b| ≈ 0.37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4828032"/>
            <a:ext cx="10817352" cy="694944"/>
          </a:xfrm>
          <a:prstGeom prst="rect">
            <a:avLst/>
          </a:prstGeom>
          <a:solidFill>
            <a:srgbClr val="E4F1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31520" y="4882896"/>
            <a:ext cx="11887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2263A"/>
                </a:solidFill>
                <a:latin typeface="Microsoft YaHei"/>
                <a:ea typeface="Microsoft YaHei"/>
              </a:rPr>
              <a:t>q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4882896"/>
            <a:ext cx="57607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B3845"/>
                </a:solidFill>
                <a:latin typeface="Microsoft YaHei"/>
                <a:ea typeface="Microsoft YaHei"/>
              </a:rPr>
              <a:t>三者相加，就是这一格最终的复权重；代进衍射公式，就得到 8280 个方向。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8120" y="4882896"/>
            <a:ext cx="36118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8A96A2"/>
                </a:solidFill>
                <a:latin typeface="Microsoft YaHei"/>
                <a:ea typeface="Microsoft YaHei"/>
              </a:rPr>
              <a:t>它是网络真正交付的东西，也是反设计的抓手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561441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A96A2"/>
                </a:solidFill>
                <a:latin typeface="Microsoft YaHei"/>
                <a:ea typeface="Microsoft YaHei"/>
              </a:rPr>
              <a:t>等价写法：论文里的 γ = Γ</a:t>
            </a:r>
            <a:r>
              <a:rPr sz="850" b="0">
                <a:solidFill>
                  <a:srgbClr val="8A96A2"/>
                </a:solidFill>
                <a:latin typeface="Microsoft YaHei"/>
                <a:ea typeface="Microsoft YaHei"/>
              </a:rPr>
              <a:t>bit</a:t>
            </a:r>
            <a:r>
              <a:rPr sz="1050" b="0">
                <a:solidFill>
                  <a:srgbClr val="8A96A2"/>
                </a:solidFill>
                <a:latin typeface="Microsoft YaHei"/>
                <a:ea typeface="Microsoft YaHei"/>
              </a:rPr>
              <a:t>(1 + δ)，δ 就是这里 Δq/q0 那一类修正。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5989320"/>
            <a:ext cx="10817352" cy="457200"/>
          </a:xfrm>
          <a:prstGeom prst="rect">
            <a:avLst/>
          </a:prstGeom>
          <a:solidFill>
            <a:srgbClr val="12263A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96112" y="6089904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FFFFFF"/>
                </a:solidFill>
                <a:latin typeface="Microsoft YaHei"/>
                <a:ea typeface="Microsoft YaHei"/>
              </a:rPr>
              <a:t>一句话：q0 是“应该反多少”，Δq 是“实际偏了多少”，b 是“整块板一起偏了多少”。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7040" y="6455664"/>
            <a:ext cx="914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2263A"/>
                </a:solidFill>
                <a:latin typeface="Microsoft YaHei"/>
                <a:ea typeface="Microsoft YaHei"/>
              </a:rPr>
              <a:t>06</a:t>
            </a:r>
            <a:r>
              <a:rPr sz="1000" b="0">
                <a:solidFill>
                  <a:srgbClr val="8A96A2"/>
                </a:solidFill>
                <a:latin typeface="Microsoft YaHei"/>
                <a:ea typeface="Microsoft YaHei"/>
              </a:rPr>
              <a:t> /10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E7C86"/>
                </a:solidFill>
                <a:latin typeface="Microsoft YaHei"/>
                <a:ea typeface="Microsoft YaHei"/>
              </a:rPr>
              <a:t>■ </a:t>
            </a:r>
            <a:r>
              <a:rPr sz="1200" b="1" spc="120">
                <a:solidFill>
                  <a:srgbClr val="0E7C86"/>
                </a:solidFill>
                <a:latin typeface="Microsoft YaHei"/>
                <a:ea typeface="Microsoft YaHei"/>
              </a:rPr>
              <a:t>第五部分 · 四个模型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76656"/>
            <a:ext cx="1078992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 spc="-10">
                <a:solidFill>
                  <a:srgbClr val="12263A"/>
                </a:solidFill>
                <a:latin typeface="Microsoft YaHei"/>
                <a:ea typeface="Microsoft YaHei"/>
              </a:rPr>
              <a:t>先分清 M0 / M1 / M2 / M3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16736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8"/>
                </a:solidFill>
                <a:latin typeface="Microsoft YaHei"/>
                <a:ea typeface="Microsoft YaHei"/>
              </a:rPr>
              <a:t>吃同一批数据、同一个划分，比出来的数才有意义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755648"/>
            <a:ext cx="10817352" cy="12801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31520" y="192024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spc="60">
                <a:solidFill>
                  <a:srgbClr val="8A96A2"/>
                </a:solidFill>
                <a:latin typeface="Microsoft YaHei"/>
                <a:ea typeface="Microsoft YaHei"/>
              </a:rPr>
              <a:t>模型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7480" y="192024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spc="60">
                <a:solidFill>
                  <a:srgbClr val="8A96A2"/>
                </a:solidFill>
                <a:latin typeface="Microsoft YaHei"/>
                <a:ea typeface="Microsoft YaHei"/>
              </a:rPr>
              <a:t>是什么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1920240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spc="60">
                <a:solidFill>
                  <a:srgbClr val="8A96A2"/>
                </a:solidFill>
                <a:latin typeface="Microsoft YaHei"/>
                <a:ea typeface="Microsoft YaHei"/>
              </a:rPr>
              <a:t>干什么用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414016"/>
            <a:ext cx="146304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5E6B78"/>
                </a:solidFill>
                <a:latin typeface="Microsoft YaHei"/>
                <a:ea typeface="Microsoft YaHei"/>
              </a:rPr>
              <a:t>M0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7480" y="2432304"/>
            <a:ext cx="489204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B3845"/>
                </a:solidFill>
                <a:latin typeface="Microsoft YaHei"/>
                <a:ea typeface="Microsoft YaHei"/>
              </a:rPr>
              <a:t>纯物理：查单元库 + 衍射公式，0 参数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2432304"/>
            <a:ext cx="361188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E6B78"/>
                </a:solidFill>
                <a:latin typeface="Microsoft YaHei"/>
                <a:ea typeface="Microsoft YaHei"/>
              </a:rPr>
              <a:t>物理下限，也是“完全不学习”的参照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218688"/>
            <a:ext cx="146304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5E6B78"/>
                </a:solidFill>
                <a:latin typeface="Microsoft YaHei"/>
                <a:ea typeface="Microsoft YaHei"/>
              </a:rPr>
              <a:t>M1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3236976"/>
            <a:ext cx="489204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B3845"/>
                </a:solidFill>
                <a:latin typeface="Microsoft YaHei"/>
                <a:ea typeface="Microsoft YaHei"/>
              </a:rPr>
              <a:t>CNN（U-Net）：直接从码出方向图，21 万参数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8120" y="3236976"/>
            <a:ext cx="361188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E6B78"/>
                </a:solidFill>
                <a:latin typeface="Microsoft YaHei"/>
                <a:ea typeface="Microsoft YaHei"/>
              </a:rPr>
              <a:t>没有物理、没有图的对照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023359"/>
            <a:ext cx="146304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5E6B78"/>
                </a:solidFill>
                <a:latin typeface="Microsoft YaHei"/>
                <a:ea typeface="Microsoft YaHei"/>
              </a:rPr>
              <a:t>M2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4041648"/>
            <a:ext cx="489204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B3845"/>
                </a:solidFill>
                <a:latin typeface="Microsoft YaHei"/>
                <a:ea typeface="Microsoft YaHei"/>
              </a:rPr>
              <a:t>GNN 直接出 q，不加 q0，9.7 万参数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18120" y="4041648"/>
            <a:ext cx="361188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E6B78"/>
                </a:solidFill>
                <a:latin typeface="Microsoft YaHei"/>
                <a:ea typeface="Microsoft YaHei"/>
              </a:rPr>
              <a:t>消融：残差到底值不值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4654296"/>
            <a:ext cx="10817352" cy="786384"/>
          </a:xfrm>
          <a:prstGeom prst="rect">
            <a:avLst/>
          </a:prstGeom>
          <a:solidFill>
            <a:srgbClr val="E4F1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31520" y="4828032"/>
            <a:ext cx="146304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2263A"/>
                </a:solidFill>
                <a:latin typeface="Microsoft YaHei"/>
                <a:ea typeface="Microsoft YaHei"/>
              </a:rPr>
              <a:t>M3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80" y="4846320"/>
            <a:ext cx="489204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B3845"/>
                </a:solidFill>
                <a:latin typeface="Microsoft YaHei"/>
                <a:ea typeface="Microsoft YaHei"/>
              </a:rPr>
              <a:t>我们的：q = q0 + Δq + b，10 万参数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18120" y="4846320"/>
            <a:ext cx="361188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E6B78"/>
                </a:solidFill>
                <a:latin typeface="Microsoft YaHei"/>
                <a:ea typeface="Microsoft YaHei"/>
              </a:rPr>
              <a:t>主模型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5577840"/>
            <a:ext cx="108173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E7C86"/>
                </a:solidFill>
                <a:latin typeface="Microsoft YaHei"/>
                <a:ea typeface="Microsoft YaHei"/>
              </a:rPr>
              <a:t>另外还有 M0g：</a:t>
            </a:r>
            <a:r>
              <a:rPr sz="1200" b="0">
                <a:solidFill>
                  <a:srgbClr val="5E6B78"/>
                </a:solidFill>
                <a:latin typeface="Microsoft YaHei"/>
                <a:ea typeface="Microsoft YaHei"/>
              </a:rPr>
              <a:t>给 M0 每个样本单独拟合一个复数，只当“上界”参考，不是可用的模型。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5961888"/>
            <a:ext cx="108173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97A24"/>
                </a:solidFill>
                <a:latin typeface="Microsoft YaHei"/>
                <a:ea typeface="Microsoft YaHei"/>
              </a:rPr>
              <a:t>目前只跑了 M0 和 M3；M1、M2 还没训，是下一步要补的对照。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7040" y="6455664"/>
            <a:ext cx="914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2263A"/>
                </a:solidFill>
                <a:latin typeface="Microsoft YaHei"/>
                <a:ea typeface="Microsoft YaHei"/>
              </a:rPr>
              <a:t>07</a:t>
            </a:r>
            <a:r>
              <a:rPr sz="1000" b="0">
                <a:solidFill>
                  <a:srgbClr val="8A96A2"/>
                </a:solidFill>
                <a:latin typeface="Microsoft YaHei"/>
                <a:ea typeface="Microsoft YaHei"/>
              </a:rPr>
              <a:t> /10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E7C86"/>
                </a:solidFill>
                <a:latin typeface="Microsoft YaHei"/>
                <a:ea typeface="Microsoft YaHei"/>
              </a:rPr>
              <a:t>■ </a:t>
            </a:r>
            <a:r>
              <a:rPr sz="1200" b="1" spc="120">
                <a:solidFill>
                  <a:srgbClr val="0E7C86"/>
                </a:solidFill>
                <a:latin typeface="Microsoft YaHei"/>
                <a:ea typeface="Microsoft YaHei"/>
              </a:rPr>
              <a:t>第六部分 · 结果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76656"/>
            <a:ext cx="1078992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 spc="-10">
                <a:solidFill>
                  <a:srgbClr val="12263A"/>
                </a:solidFill>
                <a:latin typeface="Microsoft YaHei"/>
                <a:ea typeface="Microsoft YaHei"/>
              </a:rPr>
              <a:t>291 个样本，法向的缺口补上了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16736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8"/>
                </a:solidFill>
                <a:latin typeface="Microsoft YaHei"/>
                <a:ea typeface="Microsoft YaHei"/>
              </a:rPr>
              <a:t>先跑 291 个样本（其中 44 例做测试），训练 5 个 epoch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755648"/>
            <a:ext cx="10817352" cy="12801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685800" y="1920240"/>
            <a:ext cx="3401568" cy="932688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29968"/>
            <a:ext cx="3017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E6B78"/>
                </a:solidFill>
                <a:latin typeface="Microsoft YaHei"/>
                <a:ea typeface="Microsoft YaHei"/>
              </a:rPr>
              <a:t>法向误差（θ=0°）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304288"/>
            <a:ext cx="310896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2263A"/>
                </a:solidFill>
                <a:latin typeface="Microsoft YaHei"/>
                <a:ea typeface="Microsoft YaHei"/>
              </a:rPr>
              <a:t>−16.1 → +0.16</a:t>
            </a:r>
            <a:r>
              <a:rPr sz="1100" b="0">
                <a:solidFill>
                  <a:srgbClr val="8A96A2"/>
                </a:solidFill>
                <a:latin typeface="Microsoft YaHei"/>
                <a:ea typeface="Microsoft YaHei"/>
              </a:rPr>
              <a:t>  dB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20" y="1920240"/>
            <a:ext cx="3401568" cy="932688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590288" y="2029968"/>
            <a:ext cx="3017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E6B78"/>
                </a:solidFill>
                <a:latin typeface="Microsoft YaHei"/>
                <a:ea typeface="Microsoft YaHei"/>
              </a:rPr>
              <a:t>RMSE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0288" y="2304288"/>
            <a:ext cx="310896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2263A"/>
                </a:solidFill>
                <a:latin typeface="Microsoft YaHei"/>
                <a:ea typeface="Microsoft YaHei"/>
              </a:rPr>
              <a:t>4.65 → 2.64</a:t>
            </a:r>
            <a:r>
              <a:rPr sz="1100" b="0">
                <a:solidFill>
                  <a:srgbClr val="8A96A2"/>
                </a:solidFill>
                <a:latin typeface="Microsoft YaHei"/>
                <a:ea typeface="Microsoft YaHei"/>
              </a:rPr>
              <a:t>  dB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92440" y="1920240"/>
            <a:ext cx="3401568" cy="932688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293608" y="2029968"/>
            <a:ext cx="3017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E6B78"/>
                </a:solidFill>
                <a:latin typeface="Microsoft YaHei"/>
                <a:ea typeface="Microsoft YaHei"/>
              </a:rPr>
              <a:t>方向图相关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93608" y="2304288"/>
            <a:ext cx="310896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2263A"/>
                </a:solidFill>
                <a:latin typeface="Microsoft YaHei"/>
                <a:ea typeface="Microsoft YaHei"/>
              </a:rPr>
              <a:t>0.87 → 0.96</a:t>
            </a:r>
            <a:r>
              <a:rPr sz="1100" b="0">
                <a:solidFill>
                  <a:srgbClr val="8A96A2"/>
                </a:solidFill>
                <a:latin typeface="Microsoft YaHei"/>
                <a:ea typeface="Microsoft YaHei"/>
              </a:rPr>
              <a:t>  rho_db</a:t>
            </a:r>
          </a:p>
        </p:txBody>
      </p:sp>
      <p:pic>
        <p:nvPicPr>
          <p:cNvPr id="16" name="Picture 15" descr="polar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980944"/>
            <a:ext cx="7269480" cy="2598607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685800" y="2980944"/>
            <a:ext cx="7269480" cy="2598607"/>
          </a:xfrm>
          <a:prstGeom prst="rect">
            <a:avLst/>
          </a:prstGeom>
          <a:noFill/>
          <a:ln w="9525">
            <a:solidFill>
              <a:srgbClr val="DDE3E9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85800" y="5652703"/>
            <a:ext cx="726948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6A2"/>
                </a:solidFill>
                <a:latin typeface="Microsoft YaHei"/>
                <a:ea typeface="Microsoft YaHei"/>
              </a:rPr>
              <a:t>ρ 为单切面（φ=0°/180°）dB 域相关系数，样本取 test case 158；右上角 0.87 → 0.96 是全角域 rho_db。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2889504"/>
            <a:ext cx="3200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60">
                <a:solidFill>
                  <a:srgbClr val="8A96A2"/>
                </a:solidFill>
                <a:latin typeface="Microsoft YaHei"/>
                <a:ea typeface="Microsoft YaHei"/>
              </a:rPr>
              <a:t>结论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20" y="3218688"/>
            <a:ext cx="2011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E7C86"/>
                </a:solidFill>
                <a:latin typeface="Microsoft YaHei"/>
                <a:ea typeface="Microsoft YaHei"/>
              </a:rPr>
              <a:t>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3218688"/>
            <a:ext cx="30175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2263A"/>
                </a:solidFill>
                <a:latin typeface="Microsoft YaHei"/>
                <a:ea typeface="Microsoft YaHei"/>
              </a:rPr>
              <a:t>|b| 自己学到 0.37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8"/>
                </a:solidFill>
                <a:latin typeface="Microsoft YaHei"/>
                <a:ea typeface="Microsoft YaHei"/>
              </a:rPr>
              <a:t>和理论值一致——它自己找到了那个共同分量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5320" y="4087368"/>
            <a:ext cx="2011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E7C86"/>
                </a:solidFill>
                <a:latin typeface="Microsoft YaHei"/>
                <a:ea typeface="Microsoft YaHei"/>
              </a:rPr>
              <a:t>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4087368"/>
            <a:ext cx="30175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2263A"/>
                </a:solidFill>
                <a:latin typeface="Microsoft YaHei"/>
                <a:ea typeface="Microsoft YaHei"/>
              </a:rPr>
              <a:t>误差从法向迁到大角域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8"/>
                </a:solidFill>
                <a:latin typeface="Microsoft YaHei"/>
                <a:ea typeface="Microsoft YaHei"/>
              </a:rPr>
              <a:t>法向 0.29 dB，掠射 4.1 dB 成了新短板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4956048"/>
            <a:ext cx="2011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E7C86"/>
                </a:solidFill>
                <a:latin typeface="Microsoft YaHei"/>
                <a:ea typeface="Microsoft YaHei"/>
              </a:rPr>
              <a:t>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4956048"/>
            <a:ext cx="30175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2263A"/>
                </a:solidFill>
                <a:latin typeface="Microsoft YaHei"/>
                <a:ea typeface="Microsoft YaHei"/>
              </a:rPr>
              <a:t>291 例、5 个 epoch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8"/>
                </a:solidFill>
                <a:latin typeface="Microsoft YaHei"/>
                <a:ea typeface="Microsoft YaHei"/>
              </a:rPr>
              <a:t>初步结果，全量 2000 例还没训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7040" y="6455664"/>
            <a:ext cx="914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2263A"/>
                </a:solidFill>
                <a:latin typeface="Microsoft YaHei"/>
                <a:ea typeface="Microsoft YaHei"/>
              </a:rPr>
              <a:t>08</a:t>
            </a:r>
            <a:r>
              <a:rPr sz="1000" b="0">
                <a:solidFill>
                  <a:srgbClr val="8A96A2"/>
                </a:solidFill>
                <a:latin typeface="Microsoft YaHei"/>
                <a:ea typeface="Microsoft YaHei"/>
              </a:rPr>
              <a:t> /10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E7C86"/>
                </a:solidFill>
                <a:latin typeface="Microsoft YaHei"/>
                <a:ea typeface="Microsoft YaHei"/>
              </a:rPr>
              <a:t>■ </a:t>
            </a:r>
            <a:r>
              <a:rPr sz="1200" b="1" spc="120">
                <a:solidFill>
                  <a:srgbClr val="0E7C86"/>
                </a:solidFill>
                <a:latin typeface="Microsoft YaHei"/>
                <a:ea typeface="Microsoft YaHei"/>
              </a:rPr>
              <a:t>第七部分 · 后续计划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76656"/>
            <a:ext cx="1078992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 spc="-10">
                <a:solidFill>
                  <a:srgbClr val="12263A"/>
                </a:solidFill>
                <a:latin typeface="Microsoft YaHei"/>
                <a:ea typeface="Microsoft YaHei"/>
              </a:rPr>
              <a:t>下一步：把四个维度打开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16736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8"/>
                </a:solidFill>
                <a:latin typeface="Microsoft YaHei"/>
                <a:ea typeface="Microsoft YaHei"/>
              </a:rPr>
              <a:t>模型骨架不用动，缺的是场景和数据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755648"/>
            <a:ext cx="10817352" cy="12801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685800" y="1938528"/>
            <a:ext cx="5285232" cy="15544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685800" y="1938528"/>
            <a:ext cx="45720" cy="155448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41832" y="2084832"/>
            <a:ext cx="47548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2263A"/>
                </a:solidFill>
                <a:latin typeface="Microsoft YaHei"/>
                <a:ea typeface="Microsoft YaHei"/>
              </a:rPr>
              <a:t>尺寸外推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505456"/>
            <a:ext cx="4800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C97A24"/>
                </a:solidFill>
                <a:latin typeface="Microsoft YaHei"/>
                <a:ea typeface="Microsoft YaHei"/>
              </a:rPr>
              <a:t>20×20 → 更大口径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2889504"/>
            <a:ext cx="48006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E6B78"/>
                </a:solidFill>
                <a:latin typeface="Microsoft YaHei"/>
                <a:ea typeface="Microsoft YaHei"/>
              </a:rPr>
              <a:t>滑窗、分块，块与块之间互相纠错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938528"/>
            <a:ext cx="5285232" cy="15544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6217920" y="1938528"/>
            <a:ext cx="45720" cy="155448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73952" y="2084832"/>
            <a:ext cx="47548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2263A"/>
                </a:solidFill>
                <a:latin typeface="Microsoft YaHei"/>
                <a:ea typeface="Microsoft YaHei"/>
              </a:rPr>
              <a:t>异构单元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3952" y="2505456"/>
            <a:ext cx="4800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C97A24"/>
                </a:solidFill>
                <a:latin typeface="Microsoft YaHei"/>
                <a:ea typeface="Microsoft YaHei"/>
              </a:rPr>
              <a:t>不同相位单元混排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3952" y="2889504"/>
            <a:ext cx="48006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E6B78"/>
                </a:solidFill>
                <a:latin typeface="Microsoft YaHei"/>
                <a:ea typeface="Microsoft YaHei"/>
              </a:rPr>
              <a:t>需要异质图：节点和边都分类型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3675887"/>
            <a:ext cx="5285232" cy="15544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685800" y="3675887"/>
            <a:ext cx="45720" cy="155448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41832" y="3822191"/>
            <a:ext cx="47548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2263A"/>
                </a:solidFill>
                <a:latin typeface="Microsoft YaHei"/>
                <a:ea typeface="Microsoft YaHei"/>
              </a:rPr>
              <a:t>曲面共形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" y="4242816"/>
            <a:ext cx="4800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C97A24"/>
                </a:solidFill>
                <a:latin typeface="Microsoft YaHei"/>
                <a:ea typeface="Microsoft YaHei"/>
              </a:rPr>
              <a:t>平面 → 曲面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" y="4626864"/>
            <a:ext cx="48006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E6B78"/>
                </a:solidFill>
                <a:latin typeface="Microsoft YaHei"/>
                <a:ea typeface="Microsoft YaHei"/>
              </a:rPr>
              <a:t>位置和法向已经进特征，改图结构即可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17920" y="3675887"/>
            <a:ext cx="5285232" cy="15544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6217920" y="3675887"/>
            <a:ext cx="45720" cy="155448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473952" y="3822191"/>
            <a:ext cx="47548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2263A"/>
                </a:solidFill>
                <a:latin typeface="Microsoft YaHei"/>
                <a:ea typeface="Microsoft YaHei"/>
              </a:rPr>
              <a:t>多频宽带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73952" y="4242816"/>
            <a:ext cx="4800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C97A24"/>
                </a:solidFill>
                <a:latin typeface="Microsoft YaHei"/>
                <a:ea typeface="Microsoft YaHei"/>
              </a:rPr>
              <a:t>单频 → 多频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3952" y="4626864"/>
            <a:ext cx="48006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E6B78"/>
                </a:solidFill>
                <a:latin typeface="Microsoft YaHei"/>
                <a:ea typeface="Microsoft YaHei"/>
              </a:rPr>
              <a:t>色散进单元库；阵中 f0 已偏到 9.6 GHz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800" y="5468112"/>
            <a:ext cx="10817352" cy="12801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85800" y="5577840"/>
            <a:ext cx="107899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E7C86"/>
                </a:solidFill>
                <a:latin typeface="Microsoft YaHei"/>
                <a:ea typeface="Microsoft YaHei"/>
              </a:rPr>
              <a:t>近期：</a:t>
            </a:r>
            <a:r>
              <a:rPr sz="1250" b="0">
                <a:solidFill>
                  <a:srgbClr val="2B3845"/>
                </a:solidFill>
                <a:latin typeface="Microsoft YaHei"/>
                <a:ea typeface="Microsoft YaHei"/>
              </a:rPr>
              <a:t>全量 2000 例训练</a:t>
            </a:r>
            <a:r>
              <a:rPr sz="1250" b="1">
                <a:solidFill>
                  <a:srgbClr val="0E7C86"/>
                </a:solidFill>
                <a:latin typeface="Microsoft YaHei"/>
                <a:ea typeface="Microsoft YaHei"/>
              </a:rPr>
              <a:t>　→　中期：</a:t>
            </a:r>
            <a:r>
              <a:rPr sz="1250" b="0">
                <a:solidFill>
                  <a:srgbClr val="2B3845"/>
                </a:solidFill>
                <a:latin typeface="Microsoft YaHei"/>
                <a:ea typeface="Microsoft YaHei"/>
              </a:rPr>
              <a:t>异质图 + 尺寸外推</a:t>
            </a:r>
            <a:r>
              <a:rPr sz="1250" b="1">
                <a:solidFill>
                  <a:srgbClr val="0E7C86"/>
                </a:solidFill>
                <a:latin typeface="Microsoft YaHei"/>
                <a:ea typeface="Microsoft YaHei"/>
              </a:rPr>
              <a:t>　→　远期：</a:t>
            </a:r>
            <a:r>
              <a:rPr sz="1250" b="0">
                <a:solidFill>
                  <a:srgbClr val="2B3845"/>
                </a:solidFill>
                <a:latin typeface="Microsoft YaHei"/>
                <a:ea typeface="Microsoft YaHei"/>
              </a:rPr>
              <a:t>曲面、多频、反设计闭环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5800" y="5989320"/>
            <a:ext cx="10817352" cy="457200"/>
          </a:xfrm>
          <a:prstGeom prst="rect">
            <a:avLst/>
          </a:prstGeom>
          <a:solidFill>
            <a:srgbClr val="12263A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96112" y="6089904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FFFFFF"/>
                </a:solidFill>
                <a:latin typeface="Microsoft YaHei"/>
                <a:ea typeface="Microsoft YaHei"/>
              </a:rPr>
              <a:t>四个方向共用一个模型：换图、换单元库、换数据，不换网络。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07040" y="6455664"/>
            <a:ext cx="914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2263A"/>
                </a:solidFill>
                <a:latin typeface="Microsoft YaHei"/>
                <a:ea typeface="Microsoft YaHei"/>
              </a:rPr>
              <a:t>09</a:t>
            </a:r>
            <a:r>
              <a:rPr sz="1000" b="0">
                <a:solidFill>
                  <a:srgbClr val="8A96A2"/>
                </a:solidFill>
                <a:latin typeface="Microsoft YaHei"/>
                <a:ea typeface="Microsoft YaHei"/>
              </a:rPr>
              <a:t> /10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E7C86"/>
                </a:solidFill>
                <a:latin typeface="Microsoft YaHei"/>
                <a:ea typeface="Microsoft YaHei"/>
              </a:rPr>
              <a:t>■ </a:t>
            </a:r>
            <a:r>
              <a:rPr sz="1200" b="1" spc="120">
                <a:solidFill>
                  <a:srgbClr val="0E7C86"/>
                </a:solidFill>
                <a:latin typeface="Microsoft YaHei"/>
                <a:ea typeface="Microsoft YaHei"/>
              </a:rPr>
              <a:t>第八部分 · 会议启发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76656"/>
            <a:ext cx="1078992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 spc="-10">
                <a:solidFill>
                  <a:srgbClr val="12263A"/>
                </a:solidFill>
                <a:latin typeface="Microsoft YaHei"/>
                <a:ea typeface="Microsoft YaHei"/>
              </a:rPr>
              <a:t>两篇会议工作，两条能直接用的思路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16736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8"/>
                </a:solidFill>
                <a:latin typeface="Microsoft YaHei"/>
                <a:ea typeface="Microsoft YaHei"/>
              </a:rPr>
              <a:t>只借组织方式，不借网络结构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755648"/>
            <a:ext cx="10817352" cy="12801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685800" y="1938528"/>
            <a:ext cx="5285232" cy="3749039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685800" y="1938528"/>
            <a:ext cx="45720" cy="3749039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0120" y="2066543"/>
            <a:ext cx="46634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2263A"/>
                </a:solidFill>
                <a:latin typeface="Microsoft YaHei"/>
                <a:ea typeface="Microsoft YaHei"/>
              </a:rPr>
              <a:t>异构 GCN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468880"/>
            <a:ext cx="46634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E6B78"/>
                </a:solidFill>
                <a:latin typeface="Microsoft YaHei"/>
                <a:ea typeface="Microsoft YaHei"/>
              </a:rPr>
              <a:t>节点是不同器件，边是物理连接</a:t>
            </a:r>
          </a:p>
        </p:txBody>
      </p:sp>
      <p:pic>
        <p:nvPicPr>
          <p:cNvPr id="11" name="Picture 10" descr="conference_hetgc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2761488"/>
            <a:ext cx="4370832" cy="2458593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1143000" y="2761488"/>
            <a:ext cx="4370832" cy="2458593"/>
          </a:xfrm>
          <a:prstGeom prst="rect">
            <a:avLst/>
          </a:prstGeom>
          <a:noFill/>
          <a:ln w="9525">
            <a:solidFill>
              <a:srgbClr val="DDE3E9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60120" y="5329809"/>
            <a:ext cx="47548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2263A"/>
                </a:solidFill>
                <a:latin typeface="Microsoft YaHei"/>
                <a:ea typeface="Microsoft YaHei"/>
              </a:rPr>
              <a:t>→ 不同相位单元，就是多类型节点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1938528"/>
            <a:ext cx="5285232" cy="3749039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6217920" y="1938528"/>
            <a:ext cx="45720" cy="3749039"/>
          </a:xfrm>
          <a:prstGeom prst="rect">
            <a:avLst/>
          </a:prstGeom>
          <a:solidFill>
            <a:srgbClr val="C97A24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492240" y="2066543"/>
            <a:ext cx="46634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2263A"/>
                </a:solidFill>
                <a:latin typeface="Microsoft YaHei"/>
                <a:ea typeface="Microsoft YaHei"/>
              </a:rPr>
              <a:t>自回归外推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468880"/>
            <a:ext cx="46634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E6B78"/>
                </a:solidFill>
                <a:latin typeface="Microsoft YaHei"/>
                <a:ea typeface="Microsoft YaHei"/>
              </a:rPr>
              <a:t>一次只预测下一步，再喂回去</a:t>
            </a:r>
          </a:p>
        </p:txBody>
      </p:sp>
      <p:pic>
        <p:nvPicPr>
          <p:cNvPr id="18" name="Picture 17" descr="conference_a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2761488"/>
            <a:ext cx="4370832" cy="2458593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6675120" y="2761488"/>
            <a:ext cx="4370832" cy="2458593"/>
          </a:xfrm>
          <a:prstGeom prst="rect">
            <a:avLst/>
          </a:prstGeom>
          <a:noFill/>
          <a:ln w="9525">
            <a:solidFill>
              <a:srgbClr val="DDE3E9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492240" y="5329809"/>
            <a:ext cx="47548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2263A"/>
                </a:solidFill>
                <a:latin typeface="Microsoft YaHei"/>
                <a:ea typeface="Microsoft YaHei"/>
              </a:rPr>
              <a:t>→ 尺寸外推时，块与块可以这样接力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5989320"/>
            <a:ext cx="10817352" cy="457200"/>
          </a:xfrm>
          <a:prstGeom prst="rect">
            <a:avLst/>
          </a:prstGeom>
          <a:solidFill>
            <a:srgbClr val="12263A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96112" y="6089904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FFFFFF"/>
                </a:solidFill>
                <a:latin typeface="Microsoft YaHei"/>
                <a:ea typeface="Microsoft YaHei"/>
              </a:rPr>
              <a:t>借的是“异质图 + 逐步外推”的组织方式，不是他们的网络结构。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7040" y="6455664"/>
            <a:ext cx="914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2263A"/>
                </a:solidFill>
                <a:latin typeface="Microsoft YaHei"/>
                <a:ea typeface="Microsoft YaHei"/>
              </a:rPr>
              <a:t>10</a:t>
            </a:r>
            <a:r>
              <a:rPr sz="1000" b="0">
                <a:solidFill>
                  <a:srgbClr val="8A96A2"/>
                </a:solidFill>
                <a:latin typeface="Microsoft YaHei"/>
                <a:ea typeface="Microsoft YaHei"/>
              </a:rPr>
              <a:t> /10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