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2263A"/>
                </a:solidFill>
                <a:latin typeface="Microsoft YaHei"/>
                <a:ea typeface="Microsoft YaHei"/>
              </a:rPr>
              <a:t>物理主干 + 学习修正 + 物理读出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20×20 1-bit 编码超表面 → 8280 个方向：网络只学 400 个复权重，传播交给写死的可微算子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0643616" cy="4389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1719072"/>
            <a:ext cx="36576" cy="4389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E7C86"/>
                </a:solidFill>
                <a:latin typeface="Microsoft YaHei"/>
                <a:ea typeface="Microsoft YaHei"/>
              </a:rPr>
              <a:t>数据　</a:t>
            </a: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CST 全波：20×20 · 10 GHz · 2° 网格 8280 点 · 306 s/例 · 已生成 2000 例（单频、单入射、单极化）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77240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编码 → 阵列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10×10 宏比特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block=2 → 400 单元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每单元 1-bit 相位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56916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953512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953512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72384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建图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2384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400 节点 × 9 特征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8 邻域 → 2964 条边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边特征 Δx, Δy, r（÷λ）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33188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129783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129783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248655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GNN 修正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5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3 层边条件消息传递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Δq：400 个复数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整图池化 → b：1 个复数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09459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06055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306055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24927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7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权重合成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q = q0 + Δq + b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q0 查单元库（0 参数）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零初始化 → 起点 = M0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285732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482328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482328" y="2340864"/>
            <a:ext cx="1938528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601200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物理读出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S = Σ qₙ·exp(jk·rₙ)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σ = |Eθ|² + |Eφ|²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8280 个方向 → dBsm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1664208" y="2194560"/>
            <a:ext cx="137160" cy="118872"/>
          </a:xfrm>
          <a:prstGeom prst="down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77240" y="3913632"/>
            <a:ext cx="10643616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3968496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8A96A2"/>
                </a:solidFill>
                <a:latin typeface="Microsoft YaHei"/>
                <a:ea typeface="Microsoft YaHei"/>
              </a:rPr>
              <a:t>同一套前向，三种用法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187952"/>
            <a:ext cx="340156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77240" y="4187952"/>
            <a:ext cx="31089" cy="1170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41832" y="4261104"/>
            <a:ext cx="31272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Microsoft YaHei"/>
                <a:ea typeface="Microsoft YaHei"/>
              </a:rPr>
              <a:t>训练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" y="4517136"/>
            <a:ext cx="31089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损失：dB 域 asinh 压缩 MSE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sinθ 立体角权重 + 主瓣 ×3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AdamW，早停只看 val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61688" y="4187952"/>
            <a:ext cx="340156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4361688" y="4187952"/>
            <a:ext cx="31089" cy="1170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26279" y="4261104"/>
            <a:ext cx="31272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Microsoft YaHei"/>
                <a:ea typeface="Microsoft YaHei"/>
              </a:rPr>
              <a:t>评估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79" y="4517136"/>
            <a:ext cx="31089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rho_lin / rho_db / bias / rmse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分带误差 0–5° … 60–90°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对照 M0 / M0g / M1 / M2 / M3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46136" y="4187952"/>
            <a:ext cx="32918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7A2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946136" y="4187952"/>
            <a:ext cx="31089" cy="1170432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110727" y="426110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7A24"/>
                </a:solidFill>
                <a:latin typeface="Microsoft YaHei"/>
                <a:ea typeface="Microsoft YaHei"/>
              </a:rPr>
              <a:t>反设计（下一步）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0727" y="4517136"/>
            <a:ext cx="29992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对 q 求梯度 → 松弛 + 二值化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CST 复核 Top-K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回写码本，形成闭环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632704"/>
            <a:ext cx="10643616" cy="420624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60120" y="571500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7FC4C9"/>
                </a:solidFill>
                <a:latin typeface="Microsoft YaHei"/>
                <a:ea typeface="Microsoft YaHei"/>
              </a:rPr>
              <a:t>三条不变量：</a:t>
            </a:r>
            <a:r>
              <a:rPr sz="919" b="0">
                <a:solidFill>
                  <a:srgbClr val="FFFFFF"/>
                </a:solidFill>
                <a:latin typeface="Microsoft YaHei"/>
                <a:ea typeface="Microsoft YaHei"/>
              </a:rPr>
              <a:t>物理主干 0 参数　·　只学 400 个复权重　·　零初始化使 M3 起点恰为 M0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364224"/>
            <a:ext cx="9692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6A2"/>
                </a:solidFill>
                <a:latin typeface="Microsoft YaHei"/>
                <a:ea typeface="Microsoft YaHei"/>
              </a:rPr>
              <a:t>依据：后续工作计划.md · GNN代码解读.md · 一份真实数据的全流程演示.md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01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现状与方向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2263A"/>
                </a:solidFill>
                <a:latin typeface="Microsoft YaHei"/>
                <a:ea typeface="Microsoft YaHei"/>
              </a:rPr>
              <a:t>镜面已补上，误差迁移到大角域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5 epoch / 291 例快照 / 44 例 test 的真实数字：骨架已经闭合，剩下的是四个维度的泛化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755648"/>
            <a:ext cx="1719072" cy="8595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1819656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镜面误差  θ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2996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2263A"/>
                </a:solidFill>
                <a:latin typeface="Microsoft YaHei"/>
                <a:ea typeface="Microsoft YaHei"/>
              </a:rPr>
              <a:t>−16.1 dB  →  +0.16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04288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M0  →  M3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6311" y="1755648"/>
            <a:ext cx="1719072" cy="8595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624327" y="1819656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7" y="202996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2263A"/>
                </a:solidFill>
                <a:latin typeface="Microsoft YaHei"/>
                <a:ea typeface="Microsoft YaHei"/>
              </a:rPr>
              <a:t>4.65 dB  →  2.64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7" y="2304288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全角域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544" y="1755648"/>
            <a:ext cx="1719072" cy="8595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80559" y="1819656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rho_db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02996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2263A"/>
                </a:solidFill>
                <a:latin typeface="Microsoft YaHei"/>
                <a:ea typeface="Microsoft YaHei"/>
              </a:rPr>
              <a:t>0.865  →  0.958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304288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弥散结构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34640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263A"/>
                </a:solidFill>
                <a:latin typeface="Microsoft YaHei"/>
                <a:ea typeface="Microsoft YaHei"/>
              </a:rPr>
              <a:t>M3 分带 RMSE（test）</a:t>
            </a:r>
            <a:r>
              <a:rPr sz="800" b="0">
                <a:solidFill>
                  <a:srgbClr val="8A96A2"/>
                </a:solidFill>
                <a:latin typeface="Microsoft YaHei"/>
                <a:ea typeface="Microsoft YaHei"/>
              </a:rPr>
              <a:t>　　误差已从镜面锥迁到 60–90° 掠射区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0896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0–5°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145536"/>
            <a:ext cx="197265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42017" y="310896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0.29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56432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5–15°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493008"/>
            <a:ext cx="666619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111371" y="3456432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0.98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03904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15–30°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840479"/>
            <a:ext cx="673422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118174" y="38039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0.99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51376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30–60°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4187952"/>
            <a:ext cx="1020336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465088" y="415137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1.50 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988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60–90°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535423"/>
            <a:ext cx="2788920" cy="137160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33672" y="449884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4.10 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956048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M0 的 0–5° 误差是 14.0 dB，M3 压到 0.29 dB；</a:t>
            </a: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新的短板是大角域（4.10 dB）——倾斜因子与边缘效应。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1755648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263A"/>
                </a:solidFill>
                <a:latin typeface="Microsoft YaHei"/>
                <a:ea typeface="Microsoft YaHei"/>
              </a:rPr>
              <a:t>往哪走：四个维度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2011680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355080" y="2011680"/>
            <a:ext cx="31089" cy="822960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92240" y="2103120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209397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目标 · 换挡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235000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随机码 → 结构化码本（斜坡 / 多波束 / 零陷）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2569464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预测 RCS → 匹配目标方向图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907792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355080" y="2907792"/>
            <a:ext cx="31089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6492240" y="2999232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299008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规模 · 外推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324612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固定 20×20 → 可变口径（滑窗 / 分块）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3465576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GNN 与尺寸无关，算子按尺寸预计算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03904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355080" y="3803904"/>
            <a:ext cx="31089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6492240" y="3895344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9712" y="38862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频率 · 宽带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9712" y="4142232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单频 10 GHz → 多频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712" y="436168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阵中 f0 = 9.6 GHz、Q = 4.86，色散进单元库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4700016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6355080" y="4700016"/>
            <a:ext cx="31089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6492240" y="4791456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9712" y="478231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单元 · 异构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9712" y="5038344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双半径贴片 → 异形单元混排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39712" y="525780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图相对 CNN 的真正价值；M4 加长程边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614416"/>
            <a:ext cx="10908792" cy="402336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41248" y="5687568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7FC4C9"/>
                </a:solidFill>
                <a:latin typeface="Microsoft YaHei"/>
                <a:ea typeface="Microsoft YaHei"/>
              </a:rPr>
              <a:t>判断：</a:t>
            </a:r>
            <a:r>
              <a:rPr sz="919" b="0">
                <a:solidFill>
                  <a:srgbClr val="FFFFFF"/>
                </a:solidFill>
                <a:latin typeface="Microsoft YaHei"/>
                <a:ea typeface="Microsoft YaHei"/>
              </a:rPr>
              <a:t>方法骨架已经闭合，接下来不是换网络，而是把「目标 × 规模 × 频率 × 单元」四个维度逐个打开。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364224"/>
            <a:ext cx="9692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6A2"/>
                </a:solidFill>
                <a:latin typeface="Microsoft YaHei"/>
                <a:ea typeface="Microsoft YaHei"/>
              </a:rPr>
              <a:t>数字来源：demo_out/eval/metrics_summary.csv（M3 与 M0，test，44 例）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02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会议借鉴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2263A"/>
                </a:solidFill>
                <a:latin typeface="Microsoft YaHei"/>
                <a:ea typeface="Microsoft YaHei"/>
              </a:rPr>
              <a:t>两篇会议工作，四件可以借的事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只取组织方式——主干、残差、读出、闭环；网络结构不必照搬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07008" y="170078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spc="60">
                <a:solidFill>
                  <a:srgbClr val="8A96A2"/>
                </a:solidFill>
                <a:latin typeface="Microsoft YaHei"/>
                <a:ea typeface="Microsoft YaHei"/>
              </a:rPr>
              <a:t>借鉴点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1700784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spc="60">
                <a:solidFill>
                  <a:srgbClr val="8A96A2"/>
                </a:solidFill>
                <a:latin typeface="Microsoft YaHei"/>
                <a:ea typeface="Microsoft YaHei"/>
              </a:rPr>
              <a:t>他们怎么做的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1700784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spc="60">
                <a:solidFill>
                  <a:srgbClr val="8A96A2"/>
                </a:solidFill>
                <a:latin typeface="Microsoft YaHei"/>
                <a:ea typeface="Microsoft YaHei"/>
              </a:rPr>
              <a:t>我们怎么用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75104"/>
            <a:ext cx="10908792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975104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边按机制分，不按距离分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1975104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LoS / 反射 / 绕射三类边；路径限最多 2 次反射、1 次绕射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975104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M4 的长程边照此办理：近场 / 表面波 / 衍射各设截断，而不是把 k-NN 半径调大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871216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2871216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主干 × 可退化残差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871216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m = A·fθ(h)，令 fθ ≡ 1 即退回解析解，用作消融基线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871216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我们已是 q0 + Δq + b：δ ≡ 0 就是 M0。写进方法论，并当作消融与 OOD 兜底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67328"/>
            <a:ext cx="10908792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6" y="3767328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3767328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物理读出，不学 decoder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767328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按物理路径池化复数消息，再取 dB；不是全图平均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767328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8280×400 传播算子直接读出；消息聚合用 sum，而不是定长邻居拼接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663440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663440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闭环 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4663440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0 → 100 m 逐面推进，训练时喂自己的预测压住漂移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663440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尺寸 / 频率外推时用 scheduled sampling 抑制误差累积（提议，尚未实现）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60720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587044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97A24"/>
                </a:solidFill>
                <a:latin typeface="Microsoft YaHei"/>
                <a:ea typeface="Microsoft YaHei"/>
              </a:rPr>
              <a:t>一句话：</a:t>
            </a: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借的是「物理负责外推、网络只补残差」的组织方式，不是他们的网络结构。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03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