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GNN 三步：① 每个邻居 i 把自身状态和相对位置发给中心 j；② 中心把所有消息相加（与顺序无关）；③ 结合自身旧状态更新一次，这就是一层。堆三层，信息传三圈。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异构 GCN：Het-GCN：节点 = DR 单元与馈电探针（不同类型），边 = 相邻单元的物理连接；节点属性 = 尺寸 + 材料，边属性 = 相对位置；不同关系（DR-DR、DR-Probe）用不同权重。对应我们：不同相位单元就是不同节点类型。</a:t>
            </a:r>
          </a:p>
          <a:p>
            <a:r>
              <a:t>自回归外推：网络只学“下一米”怎么变；把预测当输入，一步步推到 100 米；训练时故意喂错的预测，学会纠错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器件设计 · 先看对象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两种 1-bit 单元，组成 20×20 阵列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同一块板，改贴片半径就能给出两个相差 180° 的反射相位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intro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5376"/>
            <a:ext cx="10817352" cy="32575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214355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63A"/>
                </a:solidFill>
                <a:latin typeface="Microsoft YaHei"/>
                <a:ea typeface="Microsoft YaHei"/>
              </a:rPr>
              <a:t>两态相位差 179.95°、幅度差 0.15 dB</a:t>
            </a: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　→　满足 1-bit 编码条件；口径 280 mm（9.34λ @ 10 GHz），一个码 = 一张 8280 点的方向图。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58613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后面要学的，就是“这 100 个比特 → 那张方向图”的映射；先记住这 400 个单元是同一块板上刻出来的。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第一部分 · 为什么是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spc="-10">
                <a:solidFill>
                  <a:srgbClr val="12263A"/>
                </a:solidFill>
                <a:latin typeface="Microsoft YaHei"/>
                <a:ea typeface="Microsoft YaHei"/>
              </a:rPr>
              <a:t>三个特点，正好对上我们阵列的三个痛点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400 个单元、只和邻居耦合、每个单元都带物理量——这三点决定了该用什么网络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56816"/>
            <a:ext cx="3401568" cy="3346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56816"/>
            <a:ext cx="45720" cy="33467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23544" y="2139696"/>
            <a:ext cx="457200" cy="45720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61488"/>
            <a:ext cx="29077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只认邻居，不认网格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456432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C97A24"/>
                </a:solidFill>
                <a:latin typeface="Microsoft YaHei"/>
                <a:ea typeface="Microsoft YaHei"/>
              </a:rPr>
              <a:t>我们的问题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694176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400 个单元互相耦合。CNN 要整齐网格，缺单元、异形、曲面就失效。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480560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0E7C86"/>
                </a:solidFill>
                <a:latin typeface="Microsoft YaHei"/>
                <a:ea typeface="Microsoft YaHei"/>
              </a:rPr>
              <a:t>GNN 怎么接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700016"/>
            <a:ext cx="29077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845"/>
                </a:solidFill>
                <a:latin typeface="Microsoft YaHei"/>
                <a:ea typeface="Microsoft YaHei"/>
              </a:rPr>
              <a:t>节点 = 单元，边 = 耦合；谁挨着谁就连边，布局变了只改图。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56816"/>
            <a:ext cx="3401568" cy="3346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97680" y="1956816"/>
            <a:ext cx="45720" cy="33467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535424" y="2139696"/>
            <a:ext cx="457200" cy="45720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761488"/>
            <a:ext cx="29077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节点和边都是物理量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456432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C97A24"/>
                </a:solidFill>
                <a:latin typeface="Microsoft YaHei"/>
                <a:ea typeface="Microsoft YaHei"/>
              </a:rPr>
              <a:t>我们的问题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94176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码位、位置、Γ 都得进模型，不能只喂一张黑白比特图。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480560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0E7C86"/>
                </a:solidFill>
                <a:latin typeface="Microsoft YaHei"/>
                <a:ea typeface="Microsoft YaHei"/>
              </a:rPr>
              <a:t>GNN 怎么接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4700016"/>
            <a:ext cx="29077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845"/>
                </a:solidFill>
                <a:latin typeface="Microsoft YaHei"/>
                <a:ea typeface="Microsoft YaHei"/>
              </a:rPr>
              <a:t>节点 9 维（码位/位置/Γ/边界），边 5 维（位移/距离/方位）。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1956816"/>
            <a:ext cx="3401568" cy="3346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909560" y="1956816"/>
            <a:ext cx="45720" cy="33467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147304" y="2139696"/>
            <a:ext cx="457200" cy="45720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2761488"/>
            <a:ext cx="29077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单元数变了，不用重训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3456432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C97A24"/>
                </a:solidFill>
                <a:latin typeface="Microsoft YaHei"/>
                <a:ea typeface="Microsoft YaHei"/>
              </a:rPr>
              <a:t>我们的问题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3694176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以后要做 40×40、缺口阵、曲面共形，每种都重训不现实。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4" y="4480560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0E7C86"/>
                </a:solidFill>
                <a:latin typeface="Microsoft YaHei"/>
                <a:ea typeface="Microsoft YaHei"/>
              </a:rPr>
              <a:t>GNN 怎么接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4700016"/>
            <a:ext cx="29077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845"/>
                </a:solidFill>
                <a:latin typeface="Microsoft YaHei"/>
                <a:ea typeface="Microsoft YaHei"/>
              </a:rPr>
              <a:t>参数和阵列大小无关，换尺寸只换图，权重不动。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68112"/>
            <a:ext cx="10817352" cy="621792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85800" y="5468112"/>
            <a:ext cx="45720" cy="6217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68680" y="559612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51560" y="559612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234440" y="559612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68680" y="577900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51560" y="5779008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234440" y="577900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68680" y="596188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51560" y="596188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234440" y="596188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737360" y="55778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一层 = 每个单元问一圈邻居；三层 = 看到三圈（≈ 1.4λ）。</a:t>
            </a: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网络只管局部耦合，整孔径的干涉交给物理算子。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第二部分 · 我们的流程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从一串码，到一张方向图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网络只算 400 个复数，8280 个方向由物理公式算出来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120640" cy="566928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数据：CST 全波仿真</a:t>
            </a: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　2000 例 · 306 秒/例 · 单频单极化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码 → 阵列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100 bit
→ 400 单元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2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916936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16936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63240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查单元库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每个单元
一个 Γ → q0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10328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148072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48072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94376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GNN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每单元 Δq
＋ 全局 b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41464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379208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79208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25512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合成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q = q0
+ Δq + b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72600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610344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610344" y="2834640"/>
            <a:ext cx="1938528" cy="54864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56648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物理算子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→ 8280 个
方向的 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7550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B78"/>
                </a:solidFill>
                <a:latin typeface="Microsoft YaHei"/>
                <a:ea typeface="Microsoft YaHei"/>
              </a:rPr>
              <a:t>训练时用 CST 的方向图当标签；推理时一次前向出整张图，不再跑仿真。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102352"/>
            <a:ext cx="3310128" cy="566928"/>
          </a:xfrm>
          <a:prstGeom prst="rect">
            <a:avLst/>
          </a:prstGeom>
          <a:solidFill>
            <a:srgbClr val="F4F6F8"/>
          </a:solidFill>
          <a:ln w="1587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66760" y="519379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损失：dB 域 asinh 压缩 MSE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关键：网络不学“波怎么传播”，只学“每个单元的权重偏了多少”。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03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第三部分 · 节点与边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节点和边，装的全是物理量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400 个节点、2964 条边；每个数都有物理含义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5230368" cy="3767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45720" cy="3767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节点：400 个单元（9 个数）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码位 0/1、±1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3463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这一格是哪种相位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x/λ、y/λ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027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在阵列的哪个位置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物理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78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Γ 实部、虚部、|Γ|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单元本身反多少、反多强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463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是否边缘、法向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1389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邻居少不少、是不是平面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5285232" cy="3767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1920240"/>
            <a:ext cx="45720" cy="3767328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048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边：2964 条（5 个数）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位移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Δx/λ、Δy/λ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83463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邻居在哪个方向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1012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距离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31012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r/λ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027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隔了多远，耦合多强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78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方位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78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cos φ、sin 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正对还是斜着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560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每格只连上下左右和四个对角，不做周期延拓。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边缘单元只有 3–5 个邻居，靠“是否边缘”这一位告诉网络：别把它当内部单元。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04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第四部分 · 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输入 400 个单元，输出 400 个修正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3 层消息传递；每单元出 2 个数，整张图再出 1 个复数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400 单元 × 9 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55848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55848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消息传递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3 层，每层 64 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97296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25896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25896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90488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两个输出头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每节点 2 个 ＋ 整图 1 个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67344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695944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695944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0536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合成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q = q0 + Δq +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59536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零初始化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一开始 Δq = b = 0，输出正好等于 M0。之后涨的每一分，都是学出来的。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改进可归因；分布外还能退回 M0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9856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621024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去均值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强制 Δq 的均值为 0，让 b 专门管“整块板一起偏”，两者不打架。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|b| 才有物理意义（≈ 0.37）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2512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不学 8280 个方向，用衍射公式算。可微，能直接做反设计。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反设计只需对 400 个 q 求梯度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42832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144000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复数拆两路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实部、虚部分开算，避开复数求导的坑，行为完全可预期。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训练稳定，结果可复现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四个设计都为同一件事：让网络只学“物理算不准的那一点”，其余交给物理。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05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第四部分 · 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q 是什么：四个符号，一次讲清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q 是每个单元的复权重（幅度＋相位），它决定这一格怎么反波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10817352" cy="7132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20482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263A"/>
                </a:solidFill>
                <a:latin typeface="Microsoft YaHei"/>
                <a:ea typeface="Microsoft YaHei"/>
              </a:rPr>
              <a:t>q</a:t>
            </a:r>
            <a:r>
              <a:rPr sz="2400" b="0">
                <a:solidFill>
                  <a:srgbClr val="5E6B78"/>
                </a:solidFill>
                <a:latin typeface="Microsoft YaHei"/>
                <a:ea typeface="Microsoft YaHei"/>
              </a:rPr>
              <a:t> = </a:t>
            </a:r>
            <a:r>
              <a:rPr sz="2600" b="1">
                <a:solidFill>
                  <a:srgbClr val="0E7C86"/>
                </a:solidFill>
                <a:latin typeface="Microsoft YaHei"/>
                <a:ea typeface="Microsoft YaHei"/>
              </a:rPr>
              <a:t>q0</a:t>
            </a:r>
            <a:r>
              <a:rPr sz="1300" b="0">
                <a:solidFill>
                  <a:srgbClr val="0E7C86"/>
                </a:solidFill>
                <a:latin typeface="Microsoft YaHei"/>
                <a:ea typeface="Microsoft YaHei"/>
              </a:rPr>
              <a:t>（标称）</a:t>
            </a:r>
            <a:r>
              <a:rPr sz="2000" b="0">
                <a:solidFill>
                  <a:srgbClr val="5E6B78"/>
                </a:solidFill>
                <a:latin typeface="Microsoft YaHei"/>
                <a:ea typeface="Microsoft YaHei"/>
              </a:rPr>
              <a:t>  +  </a:t>
            </a:r>
            <a:r>
              <a:rPr sz="2600" b="1">
                <a:solidFill>
                  <a:srgbClr val="C97A24"/>
                </a:solidFill>
                <a:latin typeface="Microsoft YaHei"/>
                <a:ea typeface="Microsoft YaHei"/>
              </a:rPr>
              <a:t>Δq</a:t>
            </a:r>
            <a:r>
              <a:rPr sz="1300" b="0">
                <a:solidFill>
                  <a:srgbClr val="C97A24"/>
                </a:solidFill>
                <a:latin typeface="Microsoft YaHei"/>
                <a:ea typeface="Microsoft YaHei"/>
              </a:rPr>
              <a:t>（逐单元修正）</a:t>
            </a:r>
            <a:r>
              <a:rPr sz="2000" b="0">
                <a:solidFill>
                  <a:srgbClr val="5E6B78"/>
                </a:solidFill>
                <a:latin typeface="Microsoft YaHei"/>
                <a:ea typeface="Microsoft YaHei"/>
              </a:rPr>
              <a:t>  +  </a:t>
            </a:r>
            <a:r>
              <a:rPr sz="2600" b="1">
                <a:solidFill>
                  <a:srgbClr val="12263A"/>
                </a:solidFill>
                <a:latin typeface="Microsoft YaHei"/>
                <a:ea typeface="Microsoft YaHei"/>
              </a:rPr>
              <a:t>b</a:t>
            </a:r>
            <a:r>
              <a:rPr sz="1300" b="0">
                <a:solidFill>
                  <a:srgbClr val="12263A"/>
                </a:solidFill>
                <a:latin typeface="Microsoft YaHei"/>
                <a:ea typeface="Microsoft YaHei"/>
              </a:rPr>
              <a:t>（共同偏移）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98064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7C86"/>
                </a:solidFill>
                <a:latin typeface="Microsoft YaHei"/>
                <a:ea typeface="Microsoft YaHei"/>
              </a:rPr>
              <a:t>q0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98064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单元库里查出来的标称权重。这一格是 0 还是 1，就决定了它；0 参数。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98064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只有两个值：0.867∠−5.3° 和 0.852∠174.6°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97A24"/>
                </a:solidFill>
                <a:latin typeface="Microsoft YaHei"/>
                <a:ea typeface="Microsoft YaHei"/>
              </a:rPr>
              <a:t>Δq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493008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GNN 吐出来的逐单元修正，400 个复数。补的是邻居耦合、边缘效应带来的偏差。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93008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逐格不同，同一个宏比特里的 4 个单元也能不一样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87952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187952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整张图平均出来的共同偏移，1 个复数。补的是整块板朝法向一起多反的那一点。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87952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所有单元共用同一个 b，网络自己学到 |b| ≈ 0.37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28032"/>
            <a:ext cx="10817352" cy="694944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88289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882896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三者相加，就是这一格最终的复权重；代进衍射公式，就得到 8280 个方向。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882896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它是网络真正交付的东西，也是反设计的抓手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1441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等价写法：论文里的 γ = Γ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bit</a:t>
            </a: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(1 + δ)，δ 就是这里 Δq/q0 那一类修正。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一句话：q0 是“应该反多少”，Δq 是“实际偏了多少”，b 是“整块板一起偏了多少”。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06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第五部分 · 四个模型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先分清 M0 / M1 / M2 / M3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吃同一批数据、同一个划分，比出来的数才有意义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20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干什么用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432304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纯物理：查单元库 + 衍射公式，0 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432304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物理下限，也是“完全不学习”的参照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2369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CNN（U-Net）：直接从码出方向图，21 万参数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36976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没有物理、没有图的对照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041648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GNN 直接出 q，不加 q0，9.7 万参数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041648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消融：残差到底值不值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654296"/>
            <a:ext cx="10817352" cy="786384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4828032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63A"/>
                </a:solidFill>
                <a:latin typeface="Microsoft YaHei"/>
                <a:ea typeface="Microsoft YaHei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46320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我们的：q = q0 + Δq + b，10 万参数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46320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主模型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77840"/>
            <a:ext cx="10817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另外还有 M0g：</a:t>
            </a: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给 M0 每个样本单独拟合一个复数，只当“上界”参考，不是可用的模型。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61888"/>
            <a:ext cx="10817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7A24"/>
                </a:solidFill>
                <a:latin typeface="Microsoft YaHei"/>
                <a:ea typeface="Microsoft YaHei"/>
              </a:rPr>
              <a:t>目前只跑了 M0 和 M3；M1、M2 还没训，是下一步要补的对照。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07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第六部分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291 个样本，法向的缺口补上了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先跑 291 个样本（其中 44 例做测试），训练 5 个 epoch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法向误差（θ=0°）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−16.1 → +0.16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4.65 → 2.64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方向图相关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0.87 → 0.96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rho_db</a:t>
            </a:r>
          </a:p>
        </p:txBody>
      </p:sp>
      <p:pic>
        <p:nvPicPr>
          <p:cNvPr id="16" name="Picture 15" descr="pola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80944"/>
            <a:ext cx="7269480" cy="259860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85800" y="2980944"/>
            <a:ext cx="7269480" cy="2598607"/>
          </a:xfrm>
          <a:prstGeom prst="rect">
            <a:avLst/>
          </a:prstGeom>
          <a:noFill/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5652703"/>
            <a:ext cx="72694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2"/>
                </a:solidFill>
                <a:latin typeface="Microsoft YaHei"/>
                <a:ea typeface="Microsoft YaHei"/>
              </a:rPr>
              <a:t>ρ 为单切面（φ=0°/180°）dB 域相关系数，样本取 test case 158；右上角 0.87 → 0.96 是全角域 rho_db。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89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8A96A2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18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186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|b| 自己学到 0.37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8"/>
                </a:solidFill>
                <a:latin typeface="Microsoft YaHei"/>
                <a:ea typeface="Microsoft YaHei"/>
              </a:rPr>
              <a:t>和理论值一致——它自己找到了那个共同分量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08736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8736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误差从法向迁到大角域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8"/>
                </a:solidFill>
                <a:latin typeface="Microsoft YaHei"/>
                <a:ea typeface="Microsoft YaHei"/>
              </a:rPr>
              <a:t>法向 0.29 dB，掠射 4.1 dB 成了新短板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95604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560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291 例、5 个 epoch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8"/>
                </a:solidFill>
                <a:latin typeface="Microsoft YaHei"/>
                <a:ea typeface="Microsoft YaHei"/>
              </a:rPr>
              <a:t>初步结果，全量 2000 例还没训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08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第七部分 · 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下一步：把四个维度打开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模型骨架不用动，缺的是场景和数据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41832" y="20848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尺寸外推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0545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20×20 → 更大口径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8950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滑窗、分块，块与块之间互相纠错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38528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938528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3952" y="20848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异构单元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0545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不同相位单元混排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8950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需要异质图：节点和边都分类型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75887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3675887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1832" y="382219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曲面共形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2428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平面 → 曲面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62686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位置和法向已经进特征，改图结构即可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75887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3675887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多频宽带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428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单频 → 多频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62686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色散进单元库；阵中 f0 已偏到 9.6 GHz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468112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5577840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近期：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全量 2000 例训练</a:t>
            </a: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　→　中期：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异质图 + 尺寸外推</a:t>
            </a: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　→　远期：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曲面、多频、反设计闭环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四个方向共用一个模型：换图、换单元库、换数据，不换网络。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09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第八部分 · 会议启发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两篇会议工作，两条能直接用的思路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只借组织方式，不借网络结构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285232" cy="37490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45720" cy="374903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066543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异构 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节点是不同器件，边是物理连接</a:t>
            </a:r>
          </a:p>
        </p:txBody>
      </p:sp>
      <p:pic>
        <p:nvPicPr>
          <p:cNvPr id="11" name="Picture 10" descr="conference_hetgc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61488"/>
            <a:ext cx="4370832" cy="245859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761488"/>
            <a:ext cx="4370832" cy="2458593"/>
          </a:xfrm>
          <a:prstGeom prst="rect">
            <a:avLst/>
          </a:prstGeom>
          <a:noFill/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5329809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→ 不同相位单元，就是多类型节点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38528"/>
            <a:ext cx="5285232" cy="37490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0" y="1938528"/>
            <a:ext cx="45720" cy="3749039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2066543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自回归外推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一次只预测下一步，再喂回去</a:t>
            </a:r>
          </a:p>
        </p:txBody>
      </p:sp>
      <p:pic>
        <p:nvPicPr>
          <p:cNvPr id="18" name="Picture 17" descr="conference_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61488"/>
            <a:ext cx="4370832" cy="245859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675120" y="2761488"/>
            <a:ext cx="4370832" cy="2458593"/>
          </a:xfrm>
          <a:prstGeom prst="rect">
            <a:avLst/>
          </a:prstGeom>
          <a:noFill/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0" y="5329809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→ 尺寸外推时，块与块可以这样接力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借的是“异质图 + 逐步外推”的组织方式，不是他们的网络结构。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10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