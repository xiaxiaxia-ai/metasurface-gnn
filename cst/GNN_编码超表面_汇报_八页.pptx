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第一部分 · GNN 原理与特点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每个单元，问一圈邻居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一层 = 看一圈邻居；堆三层 = 看到三圈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60704" y="1819655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2084832" y="1819655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1819655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0" name="Oval 9"/>
          <p:cNvSpPr/>
          <p:nvPr/>
        </p:nvSpPr>
        <p:spPr>
          <a:xfrm>
            <a:off x="1060704" y="2843784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1" name="Oval 10"/>
          <p:cNvSpPr/>
          <p:nvPr/>
        </p:nvSpPr>
        <p:spPr>
          <a:xfrm>
            <a:off x="2084832" y="2843784"/>
            <a:ext cx="804672" cy="804672"/>
          </a:xfrm>
          <a:prstGeom prst="ellipse">
            <a:avLst/>
          </a:prstGeom>
          <a:solidFill>
            <a:srgbClr val="0E7C86"/>
          </a:solidFill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j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2843784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3867911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4" name="Oval 13"/>
          <p:cNvSpPr/>
          <p:nvPr/>
        </p:nvSpPr>
        <p:spPr>
          <a:xfrm>
            <a:off x="2084832" y="3867911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5" name="Oval 14"/>
          <p:cNvSpPr/>
          <p:nvPr/>
        </p:nvSpPr>
        <p:spPr>
          <a:xfrm>
            <a:off x="3108960" y="3867911"/>
            <a:ext cx="804672" cy="804672"/>
          </a:xfrm>
          <a:prstGeom prst="ellipse">
            <a:avLst/>
          </a:prstGeom>
          <a:solidFill>
            <a:srgbClr val="E4F1F2"/>
          </a:solidFill>
          <a:ln w="19050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47534" y="2506486"/>
            <a:ext cx="455139" cy="455139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87168" y="2624327"/>
            <a:ext cx="0" cy="219457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771662" y="2506486"/>
            <a:ext cx="455139" cy="455139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65376" y="3246120"/>
            <a:ext cx="219456" cy="0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889504" y="3246120"/>
            <a:ext cx="219456" cy="0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47534" y="3530614"/>
            <a:ext cx="455139" cy="455139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487168" y="3648456"/>
            <a:ext cx="0" cy="219455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71662" y="3530614"/>
            <a:ext cx="455139" cy="455139"/>
          </a:xfrm>
          <a:prstGeom prst="line">
            <a:avLst/>
          </a:prstGeom>
          <a:ln w="2032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73659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8 个邻居，示意图</a:t>
            </a:r>
          </a:p>
        </p:txBody>
      </p:sp>
      <p:sp>
        <p:nvSpPr>
          <p:cNvPr id="25" name="Oval 24"/>
          <p:cNvSpPr/>
          <p:nvPr/>
        </p:nvSpPr>
        <p:spPr>
          <a:xfrm>
            <a:off x="4983480" y="1938528"/>
            <a:ext cx="402336" cy="402336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190195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发消息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230428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邻居 i 把自己的状态、还有“我离你多远、在哪个方向”，发给中心 j。</a:t>
            </a:r>
          </a:p>
        </p:txBody>
      </p:sp>
      <p:sp>
        <p:nvSpPr>
          <p:cNvPr id="28" name="Oval 27"/>
          <p:cNvSpPr/>
          <p:nvPr/>
        </p:nvSpPr>
        <p:spPr>
          <a:xfrm>
            <a:off x="4983480" y="2871216"/>
            <a:ext cx="402336" cy="402336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28346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汇总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264" y="3236976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中心把所有邻居的消息加起来。谁先谁后无所谓。</a:t>
            </a:r>
          </a:p>
        </p:txBody>
      </p:sp>
      <p:sp>
        <p:nvSpPr>
          <p:cNvPr id="31" name="Oval 30"/>
          <p:cNvSpPr/>
          <p:nvPr/>
        </p:nvSpPr>
        <p:spPr>
          <a:xfrm>
            <a:off x="4983480" y="3803904"/>
            <a:ext cx="402336" cy="402336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264" y="37673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4169664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中心结合自己原来的状态，更新一次——这就是“一层”。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937760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5800" y="507492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</a:rPr>
              <a:t>· </a:t>
            </a:r>
            <a:r>
              <a:rPr sz="1450" b="1">
                <a:solidFill>
                  <a:srgbClr val="12263A"/>
                </a:solidFill>
                <a:latin typeface="Microsoft YaHei"/>
                <a:ea typeface="Microsoft YaHei"/>
              </a:rPr>
              <a:t>不怕不规则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3949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缺单元、异形、曲面，都能直接算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07492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</a:rPr>
              <a:t>· </a:t>
            </a:r>
            <a:r>
              <a:rPr sz="1450" b="1">
                <a:solidFill>
                  <a:srgbClr val="12263A"/>
                </a:solidFill>
                <a:latin typeface="Microsoft YaHei"/>
                <a:ea typeface="Microsoft YaHei"/>
              </a:rPr>
              <a:t>结构和物理对得上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53949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节点是单元，边就是耦合，不是黑箱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07492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</a:rPr>
              <a:t>· </a:t>
            </a:r>
            <a:r>
              <a:rPr sz="1450" b="1">
                <a:solidFill>
                  <a:srgbClr val="12263A"/>
                </a:solidFill>
                <a:latin typeface="Microsoft YaHei"/>
                <a:ea typeface="Microsoft YaHei"/>
              </a:rPr>
              <a:t>单元数变了不改网络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53949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20×20 和 40×40 用同一套权重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GNN 把“谁影响谁”写进模型结构——这正是超表面阵列最需要的那件事。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第二部分 · 我们的流程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从一串码，到一张方向图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网络只算 400 个复数，8280 个方向由物理公式算出来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120640" cy="566928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数据：CST 全波仿真</a:t>
            </a: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　2000 例 · 306 秒/例 · 单频单极化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码 → 阵列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100 bit
→ 400 单元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2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916936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16936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63240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查单元库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每个单元
一个 Γ → q0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10328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148072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48072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94376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GNN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每单元 Δq
＋ 全局 b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41464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379208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79208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25512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合成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q = q0
+ Δq + b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72600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610344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610344" y="2834640"/>
            <a:ext cx="1938528" cy="54864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56648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物理算子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→ 8280 个
方向的 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7550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B78"/>
                </a:solidFill>
                <a:latin typeface="Microsoft YaHei"/>
                <a:ea typeface="Microsoft YaHei"/>
              </a:rPr>
              <a:t>训练时用 CST 的方向图当标签；推理时一次前向出整张图，不再跑仿真。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102352"/>
            <a:ext cx="3310128" cy="566928"/>
          </a:xfrm>
          <a:prstGeom prst="rect">
            <a:avLst/>
          </a:prstGeom>
          <a:solidFill>
            <a:srgbClr val="F4F6F8"/>
          </a:solidFill>
          <a:ln w="1587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66760" y="519379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损失：dB 域 asinh 压缩 MSE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关键：网络不学“波怎么传播”，只学“每个单元的权重偏了多少”。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第三部分 · 节点与边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节点和边，装的全是物理量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400 个节点、2964 条边；每个数都有物理含义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5230368" cy="3767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45720" cy="3767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节点：400 个单元（9 个数）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码位 0/1、±1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3463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这一格是哪种相位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x/λ、y/λ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027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在阵列的哪个位置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物理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78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Γ 实部、虚部、|Γ|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单元本身反多少、反多强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463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是否边缘、法向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1389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邻居少不少、是不是平面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5285232" cy="3767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1920240"/>
            <a:ext cx="45720" cy="3767328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048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边：2964 条（5 个数）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位移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Δx/λ、Δy/λ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83463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邻居在哪个方向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1012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距离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31012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r/λ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027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隔了多远，耦合多强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78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方位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78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cos φ、sin 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正对还是斜着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560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每格只连上下左右和四个对角，不做周期延拓。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边缘单元只有 3–5 个邻居，靠“是否边缘”这一位告诉网络：别把它当内部单元。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03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第四部分 · 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输入 400 个单元，输出 400 个修正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3 层消息传递；每单元出 2 个数，整张图再出 1 个复数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400 单元 × 9 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55848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55848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消息传递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3 层，每层 64 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97296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25896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25896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90488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两个输出头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每节点 2 个 ＋ 整图 1 个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67344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695944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695944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0536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合成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q = q0 + Δq +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59536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零初始化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一开始 Δq = b = 0，输出正好等于 M0。之后涨的每一分，都是学出来的。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改进可归因；分布外还能退回 M0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9856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621024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去均值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强制 Δq 的均值为 0，让 b 专门管“整块板一起偏”，两者不打架。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|b| 才有物理意义（≈ 0.37）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2512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不学 8280 个方向，用衍射公式算。可微，能直接做反设计。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反设计只需对 400 个 q 求梯度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42832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144000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复数拆两路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实部、虚部分开算，避开复数求导的坑，行为完全可预期。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训练稳定，结果可复现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四个设计都为同一件事：让网络只学“物理算不准的那一点”，其余交给物理。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04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第五部分 · 四个模型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先分清 M0 / M1 / M2 / M3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吃同一批数据、同一个划分，比出来的数才有意义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20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干什么用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432304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纯物理：查单元库 + 衍射公式，0 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432304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物理下限，也是“完全不学习”的参照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2369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CNN（U-Net）：直接从码出方向图，21 万参数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36976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没有物理、没有图的对照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041648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GNN 直接出 q，不加 q0，9.7 万参数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041648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消融：残差到底值不值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654296"/>
            <a:ext cx="10817352" cy="786384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4828032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63A"/>
                </a:solidFill>
                <a:latin typeface="Microsoft YaHei"/>
                <a:ea typeface="Microsoft YaHei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46320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我们的：q = q0 + Δq + b，10 万参数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46320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主模型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77840"/>
            <a:ext cx="10817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另外还有 M0g：</a:t>
            </a: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给 M0 每个样本单独拟合一个复数，只当“上界”参考，不是可用的模型。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61888"/>
            <a:ext cx="10817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7A24"/>
                </a:solidFill>
                <a:latin typeface="Microsoft YaHei"/>
                <a:ea typeface="Microsoft YaHei"/>
              </a:rPr>
              <a:t>目前只跑了 M0 和 M3；M1、M2 还没训，是下一步要补的对照。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05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第六部分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291 个样本，镜面补上了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先跑 291 个样本（其中 44 例做测试），训练 5 个 epoch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镜面误差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−16.1 → +0.16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4.65 → 2.64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方向图相关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0.87 → 0.96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9067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63A"/>
                </a:solidFill>
                <a:latin typeface="Microsoft YaHei"/>
                <a:ea typeface="Microsoft YaHei"/>
              </a:rPr>
              <a:t>M3 分角度误差（dB）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0–5°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511296"/>
            <a:ext cx="197265" cy="2011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88905" y="34747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0.29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9534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5–15°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3931920"/>
            <a:ext cx="666619" cy="2011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358259" y="3895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0.98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15–30°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352544"/>
            <a:ext cx="673422" cy="2011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65062" y="43159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0.99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36592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30–60°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4773168"/>
            <a:ext cx="1020336" cy="2011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711976" y="4736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1.50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5721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60–90°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5193792"/>
            <a:ext cx="2788920" cy="201168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480559" y="51572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4.10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090672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090672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2263A"/>
                </a:solidFill>
                <a:latin typeface="Microsoft YaHei"/>
                <a:ea typeface="Microsoft YaHei"/>
              </a:rPr>
              <a:t>网络自己学到 |b| = 0.37，和理论值一致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它自己找到了那个“共同模”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86783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986783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2263A"/>
                </a:solidFill>
                <a:latin typeface="Microsoft YaHei"/>
                <a:ea typeface="Microsoft YaHei"/>
              </a:rPr>
              <a:t>误差从镜面转移到了大角域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镜面 14 → 0.29 dB；掠射 4.1 dB 成了新短板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882896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882896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2263A"/>
                </a:solidFill>
                <a:latin typeface="Microsoft YaHei"/>
                <a:ea typeface="Microsoft YaHei"/>
              </a:rPr>
              <a:t>这只是初步结果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291 例、5 个 epoch；全量 2000 例还没训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结论：物理主干是对的，网络只补了它算不准的那部分；这一步已经跑通。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06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第七部分 · 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下一步：把四个维度打开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模型骨架不用动，缺的是场景和数据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41832" y="20848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尺寸外推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0545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20×20 → 更大口径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8950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滑窗、分块，块与块之间互相纠错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38528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938528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3952" y="20848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异构单元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0545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不同相位单元混排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8950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需要异质图：节点和边都分类型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75887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3675887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1832" y="382219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曲面共形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2428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平面 → 曲面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62686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位置和法向已经进特征，改图结构即可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75887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3675887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多频宽带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428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单频 → 多频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62686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色散进单元库；阵中 f0 已偏到 9.6 GHz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468112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5577840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近期：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全量 2000 例训练</a:t>
            </a: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　→　中期：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异质图 + 尺寸外推</a:t>
            </a: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　→　远期：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曲面、多频、反设计闭环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四个方向共用一个模型：换图、换单元库、换数据，不换网络。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07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第八部分 · 会议启发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两篇会议工作，两条能直接用的思路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只借组织方式，不借网络结构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285232" cy="37490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45720" cy="374903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异构 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B78"/>
                </a:solidFill>
                <a:latin typeface="Microsoft YaHei"/>
                <a:ea typeface="Microsoft YaHei"/>
              </a:rPr>
              <a:t>节点分类型，边也分类型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35808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30358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面、楔、收发点 = 不同节点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39312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6393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直射、反射、绕射 = 不同边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42816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42428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每种边有自己的消息函数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846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63A"/>
                </a:solidFill>
                <a:latin typeface="Microsoft YaHei"/>
                <a:ea typeface="Microsoft YaHei"/>
              </a:rPr>
              <a:t>→ 不同相位单元，就是多类型节点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38528"/>
            <a:ext cx="5285232" cy="37490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17920" y="1938528"/>
            <a:ext cx="45720" cy="3749039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自回归外推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23744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B78"/>
                </a:solidFill>
                <a:latin typeface="Microsoft YaHei"/>
                <a:ea typeface="Microsoft YaHei"/>
              </a:rPr>
              <a:t>一次只预测下一步，再喂回去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35808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7A24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30358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网络只学“下一米”怎么变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39312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7A24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6393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把预测当输入，一步步推到 100 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42816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7A24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42428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训练时故意喂错的预测，学会纠错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46320"/>
            <a:ext cx="18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7A24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4846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63A"/>
                </a:solidFill>
                <a:latin typeface="Microsoft YaHei"/>
                <a:ea typeface="Microsoft YaHei"/>
              </a:rPr>
              <a:t>→ 尺寸外推时，块与块可以这样接力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870448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6112" y="59710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借的是“异质图 + 逐步外推”的组织方式，不是他们的网络结构。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08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