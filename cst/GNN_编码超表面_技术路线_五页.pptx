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GNN 机理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2263A"/>
                </a:solidFill>
                <a:latin typeface="Microsoft YaHei"/>
                <a:ea typeface="Microsoft YaHei"/>
              </a:rPr>
              <a:t>一次消息传递，就是一次邻居之间的耦合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节点是单元、边是耦合：一层 = 邻居影响一次；堆三层 = 影响传到三个单元之外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408176" y="1819656"/>
            <a:ext cx="438912" cy="438912"/>
          </a:xfrm>
          <a:prstGeom prst="ellipse">
            <a:avLst/>
          </a:prstGeom>
          <a:solidFill>
            <a:srgbClr val="E4F1F2"/>
          </a:solidFill>
          <a:ln w="9525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8" name="Oval 7"/>
          <p:cNvSpPr/>
          <p:nvPr/>
        </p:nvSpPr>
        <p:spPr>
          <a:xfrm>
            <a:off x="2066543" y="1819656"/>
            <a:ext cx="438912" cy="438912"/>
          </a:xfrm>
          <a:prstGeom prst="ellipse">
            <a:avLst/>
          </a:prstGeom>
          <a:solidFill>
            <a:srgbClr val="E4F1F2"/>
          </a:solidFill>
          <a:ln w="9525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9" name="Oval 8"/>
          <p:cNvSpPr/>
          <p:nvPr/>
        </p:nvSpPr>
        <p:spPr>
          <a:xfrm>
            <a:off x="2724911" y="1819656"/>
            <a:ext cx="438912" cy="438912"/>
          </a:xfrm>
          <a:prstGeom prst="ellipse">
            <a:avLst/>
          </a:prstGeom>
          <a:solidFill>
            <a:srgbClr val="E4F1F2"/>
          </a:solidFill>
          <a:ln w="9525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0" name="Oval 9"/>
          <p:cNvSpPr/>
          <p:nvPr/>
        </p:nvSpPr>
        <p:spPr>
          <a:xfrm>
            <a:off x="1408176" y="2478024"/>
            <a:ext cx="438912" cy="438912"/>
          </a:xfrm>
          <a:prstGeom prst="ellipse">
            <a:avLst/>
          </a:prstGeom>
          <a:solidFill>
            <a:srgbClr val="E4F1F2"/>
          </a:solidFill>
          <a:ln w="9525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1" name="Oval 10"/>
          <p:cNvSpPr/>
          <p:nvPr/>
        </p:nvSpPr>
        <p:spPr>
          <a:xfrm>
            <a:off x="2066543" y="2478024"/>
            <a:ext cx="438912" cy="438912"/>
          </a:xfrm>
          <a:prstGeom prst="ellipse">
            <a:avLst/>
          </a:prstGeom>
          <a:solidFill>
            <a:srgbClr val="0E7C86"/>
          </a:solidFill>
          <a:ln w="9525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j</a:t>
            </a:r>
          </a:p>
        </p:txBody>
      </p:sp>
      <p:sp>
        <p:nvSpPr>
          <p:cNvPr id="12" name="Oval 11"/>
          <p:cNvSpPr/>
          <p:nvPr/>
        </p:nvSpPr>
        <p:spPr>
          <a:xfrm>
            <a:off x="2724911" y="2478024"/>
            <a:ext cx="438912" cy="438912"/>
          </a:xfrm>
          <a:prstGeom prst="ellipse">
            <a:avLst/>
          </a:prstGeom>
          <a:solidFill>
            <a:srgbClr val="E4F1F2"/>
          </a:solidFill>
          <a:ln w="9525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3" name="Oval 12"/>
          <p:cNvSpPr/>
          <p:nvPr/>
        </p:nvSpPr>
        <p:spPr>
          <a:xfrm>
            <a:off x="1408176" y="3136391"/>
            <a:ext cx="438912" cy="438912"/>
          </a:xfrm>
          <a:prstGeom prst="ellipse">
            <a:avLst/>
          </a:prstGeom>
          <a:solidFill>
            <a:srgbClr val="E4F1F2"/>
          </a:solidFill>
          <a:ln w="9525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4" name="Oval 13"/>
          <p:cNvSpPr/>
          <p:nvPr/>
        </p:nvSpPr>
        <p:spPr>
          <a:xfrm>
            <a:off x="2066543" y="3136391"/>
            <a:ext cx="438912" cy="438912"/>
          </a:xfrm>
          <a:prstGeom prst="ellipse">
            <a:avLst/>
          </a:prstGeom>
          <a:solidFill>
            <a:srgbClr val="E4F1F2"/>
          </a:solidFill>
          <a:ln w="9525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sp>
        <p:nvSpPr>
          <p:cNvPr id="15" name="Oval 14"/>
          <p:cNvSpPr/>
          <p:nvPr/>
        </p:nvSpPr>
        <p:spPr>
          <a:xfrm>
            <a:off x="2724911" y="3136391"/>
            <a:ext cx="438912" cy="438912"/>
          </a:xfrm>
          <a:prstGeom prst="ellipse">
            <a:avLst/>
          </a:prstGeom>
          <a:solidFill>
            <a:srgbClr val="E4F1F2"/>
          </a:solidFill>
          <a:ln w="9525">
            <a:solidFill>
              <a:srgbClr val="9CC7CB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82810" y="2194290"/>
            <a:ext cx="348011" cy="348011"/>
          </a:xfrm>
          <a:prstGeom prst="line">
            <a:avLst/>
          </a:prstGeom>
          <a:ln w="1524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2258568"/>
            <a:ext cx="0" cy="219456"/>
          </a:xfrm>
          <a:prstGeom prst="line">
            <a:avLst/>
          </a:prstGeom>
          <a:ln w="1524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441178" y="2194290"/>
            <a:ext cx="348011" cy="348011"/>
          </a:xfrm>
          <a:prstGeom prst="line">
            <a:avLst/>
          </a:prstGeom>
          <a:ln w="1524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47088" y="2697480"/>
            <a:ext cx="219455" cy="0"/>
          </a:xfrm>
          <a:prstGeom prst="line">
            <a:avLst/>
          </a:prstGeom>
          <a:ln w="1524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505456" y="2697480"/>
            <a:ext cx="219455" cy="0"/>
          </a:xfrm>
          <a:prstGeom prst="line">
            <a:avLst/>
          </a:prstGeom>
          <a:ln w="1524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782810" y="2852658"/>
            <a:ext cx="348011" cy="348011"/>
          </a:xfrm>
          <a:prstGeom prst="line">
            <a:avLst/>
          </a:prstGeom>
          <a:ln w="1524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6000" y="2916936"/>
            <a:ext cx="0" cy="219455"/>
          </a:xfrm>
          <a:prstGeom prst="line">
            <a:avLst/>
          </a:prstGeom>
          <a:ln w="1524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441178" y="2852658"/>
            <a:ext cx="348011" cy="348011"/>
          </a:xfrm>
          <a:prstGeom prst="line">
            <a:avLst/>
          </a:prstGeom>
          <a:ln w="15240">
            <a:solidFill>
              <a:srgbClr val="94A1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9808" y="3621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一层：8 个邻居各发一条消息；三层：信息走 3 格 ≈ 1.4λ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1847088"/>
            <a:ext cx="237744" cy="237744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1810512"/>
            <a:ext cx="7040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消息　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m</a:t>
            </a:r>
            <a:r>
              <a:rPr sz="662" b="0" baseline="-25000">
                <a:solidFill>
                  <a:srgbClr val="0E7C86"/>
                </a:solidFill>
                <a:latin typeface="Microsoft YaHei"/>
                <a:ea typeface="Microsoft YaHei"/>
              </a:rPr>
              <a:t>ij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 = φ( h</a:t>
            </a:r>
            <a:r>
              <a:rPr sz="662" b="0" baseline="-25000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, h</a:t>
            </a:r>
            <a:r>
              <a:rPr sz="662" b="0" baseline="-25000">
                <a:solidFill>
                  <a:srgbClr val="0E7C86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, e</a:t>
            </a:r>
            <a:r>
              <a:rPr sz="662" b="0" baseline="-25000">
                <a:solidFill>
                  <a:srgbClr val="0E7C86"/>
                </a:solidFill>
                <a:latin typeface="Microsoft YaHei"/>
                <a:ea typeface="Microsoft YaHei"/>
              </a:rPr>
              <a:t>ij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2066543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E6B78"/>
                </a:solidFill>
                <a:latin typeface="Microsoft YaHei"/>
                <a:ea typeface="Microsoft YaHei"/>
              </a:rPr>
              <a:t>邻居 i 对 j 说什么；e_ij 携带相对位置，权重随几何变</a:t>
            </a:r>
          </a:p>
        </p:txBody>
      </p:sp>
      <p:sp>
        <p:nvSpPr>
          <p:cNvPr id="28" name="Oval 27"/>
          <p:cNvSpPr/>
          <p:nvPr/>
        </p:nvSpPr>
        <p:spPr>
          <a:xfrm>
            <a:off x="4160520" y="2523744"/>
            <a:ext cx="237744" cy="237744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2487168"/>
            <a:ext cx="7040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聚合　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a</a:t>
            </a:r>
            <a:r>
              <a:rPr sz="662" b="0" baseline="-25000">
                <a:solidFill>
                  <a:srgbClr val="0E7C86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 = Σ</a:t>
            </a:r>
            <a:r>
              <a:rPr sz="662" b="0" baseline="-25000">
                <a:solidFill>
                  <a:srgbClr val="0E7C86"/>
                </a:solidFill>
                <a:latin typeface="Microsoft YaHei"/>
                <a:ea typeface="Microsoft YaHei"/>
              </a:rPr>
              <a:t>i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 m</a:t>
            </a:r>
            <a:r>
              <a:rPr sz="662" b="0" baseline="-25000">
                <a:solidFill>
                  <a:srgbClr val="0E7C86"/>
                </a:solidFill>
                <a:latin typeface="Microsoft YaHei"/>
                <a:ea typeface="Microsoft YaHei"/>
              </a:rPr>
              <a:t>ij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2743200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E6B78"/>
                </a:solidFill>
                <a:latin typeface="Microsoft YaHei"/>
                <a:ea typeface="Microsoft YaHei"/>
              </a:rPr>
              <a:t>把邻居的话加起来；求和与顺序无关，节点重排结果不变</a:t>
            </a:r>
          </a:p>
        </p:txBody>
      </p:sp>
      <p:sp>
        <p:nvSpPr>
          <p:cNvPr id="31" name="Oval 30"/>
          <p:cNvSpPr/>
          <p:nvPr/>
        </p:nvSpPr>
        <p:spPr>
          <a:xfrm>
            <a:off x="4160520" y="3200400"/>
            <a:ext cx="237744" cy="237744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3163824"/>
            <a:ext cx="7040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更新　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h</a:t>
            </a:r>
            <a:r>
              <a:rPr sz="662" b="0" baseline="-25000">
                <a:solidFill>
                  <a:srgbClr val="0E7C86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 ← ψ( h</a:t>
            </a:r>
            <a:r>
              <a:rPr sz="662" b="0" baseline="-25000">
                <a:solidFill>
                  <a:srgbClr val="0E7C86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, a</a:t>
            </a:r>
            <a:r>
              <a:rPr sz="662" b="0" baseline="-25000">
                <a:solidFill>
                  <a:srgbClr val="0E7C86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0E7C86"/>
                </a:solidFill>
                <a:latin typeface="Microsoft YaHei"/>
                <a:ea typeface="Microsoft YaHei"/>
              </a:rPr>
              <a:t> 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3419856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E6B78"/>
                </a:solidFill>
                <a:latin typeface="Microsoft YaHei"/>
                <a:ea typeface="Microsoft YaHei"/>
              </a:rPr>
              <a:t>结合自身旧状态；残差 + LayerNorm，堆几层都不塌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91363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spc="50">
                <a:solidFill>
                  <a:srgbClr val="8A96A2"/>
                </a:solidFill>
                <a:latin typeface="Microsoft YaHei"/>
                <a:ea typeface="Microsoft YaHei"/>
              </a:rPr>
              <a:t>网络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0784" y="391363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spc="50">
                <a:solidFill>
                  <a:srgbClr val="8A96A2"/>
                </a:solidFill>
                <a:latin typeface="Microsoft YaHei"/>
                <a:ea typeface="Microsoft YaHei"/>
              </a:rPr>
              <a:t>局部性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9504" y="3913632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spc="50">
                <a:solidFill>
                  <a:srgbClr val="8A96A2"/>
                </a:solidFill>
                <a:latin typeface="Microsoft YaHei"/>
                <a:ea typeface="Microsoft YaHei"/>
              </a:rPr>
              <a:t>权重怎么来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133087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2B3845"/>
                </a:solidFill>
                <a:latin typeface="Microsoft YaHei"/>
                <a:ea typeface="Microsoft YaHei"/>
              </a:rPr>
              <a:t>MLP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0784" y="4142231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E6B78"/>
                </a:solidFill>
                <a:latin typeface="Microsoft YaHei"/>
                <a:ea typeface="Microsoft YaHei"/>
              </a:rPr>
              <a:t>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9504" y="4142231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E6B78"/>
                </a:solidFill>
                <a:latin typeface="Microsoft YaHei"/>
                <a:ea typeface="Microsoft YaHei"/>
              </a:rPr>
              <a:t>全连接，每个输入一根权重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51713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2B3845"/>
                </a:solidFill>
                <a:latin typeface="Microsoft YaHei"/>
                <a:ea typeface="Microsoft YaHei"/>
              </a:rPr>
              <a:t>CNN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0784" y="4526279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E6B78"/>
                </a:solidFill>
                <a:latin typeface="Microsoft YaHei"/>
                <a:ea typeface="Microsoft YaHei"/>
              </a:rPr>
              <a:t>规则网格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9504" y="4526279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E6B78"/>
                </a:solidFill>
                <a:latin typeface="Microsoft YaHei"/>
                <a:ea typeface="Microsoft YaHei"/>
              </a:rPr>
              <a:t>每种偏移一个固定卷积核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864607"/>
            <a:ext cx="5074920" cy="365760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4901183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2263A"/>
                </a:solidFill>
                <a:latin typeface="Microsoft YaHei"/>
                <a:ea typeface="Microsoft YaHei"/>
              </a:rPr>
              <a:t>GNN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00784" y="4910327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E6B78"/>
                </a:solidFill>
                <a:latin typeface="Microsoft YaHei"/>
                <a:ea typeface="Microsoft YaHei"/>
              </a:rPr>
              <a:t>任意图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9504" y="4910327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E6B78"/>
                </a:solidFill>
                <a:latin typeface="Microsoft YaHei"/>
                <a:ea typeface="Microsoft YaHei"/>
              </a:rPr>
              <a:t>由边特征 e_ij 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3950208"/>
            <a:ext cx="109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2" y="3950208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263A"/>
                </a:solidFill>
                <a:latin typeface="Microsoft YaHei"/>
                <a:ea typeface="Microsoft YaHei"/>
              </a:rPr>
              <a:t>节点 = 单元</a:t>
            </a:r>
            <a:r>
              <a:rPr sz="860" b="0">
                <a:solidFill>
                  <a:srgbClr val="5E6B78"/>
                </a:solidFill>
                <a:latin typeface="Microsoft YaHei"/>
                <a:ea typeface="Microsoft YaHei"/>
              </a:rPr>
              <a:t>：几何、码位、Γ 都是现成特征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352544"/>
            <a:ext cx="109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9632" y="4352544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263A"/>
                </a:solidFill>
                <a:latin typeface="Microsoft YaHei"/>
                <a:ea typeface="Microsoft YaHei"/>
              </a:rPr>
              <a:t>边 = 耦合</a:t>
            </a:r>
            <a:r>
              <a:rPr sz="860" b="0">
                <a:solidFill>
                  <a:srgbClr val="5E6B78"/>
                </a:solidFill>
                <a:latin typeface="Microsoft YaHei"/>
                <a:ea typeface="Microsoft YaHei"/>
              </a:rPr>
              <a:t>：近场 / 表面波 / 衍射可分类、可截断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4754880"/>
            <a:ext cx="109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9632" y="4754880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263A"/>
                </a:solidFill>
                <a:latin typeface="Microsoft YaHei"/>
                <a:ea typeface="Microsoft YaHei"/>
              </a:rPr>
              <a:t>层数 = 耦合半径</a:t>
            </a:r>
            <a:r>
              <a:rPr sz="860" b="0">
                <a:solidFill>
                  <a:srgbClr val="5E6B78"/>
                </a:solidFill>
                <a:latin typeface="Microsoft YaHei"/>
                <a:ea typeface="Microsoft YaHei"/>
              </a:rPr>
              <a:t>：3 层 ≈ 3 个单元（1.4λ）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157216"/>
            <a:ext cx="109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9632" y="5157216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263A"/>
                </a:solidFill>
                <a:latin typeface="Microsoft YaHei"/>
                <a:ea typeface="Microsoft YaHei"/>
              </a:rPr>
              <a:t>增删单元不改代码</a:t>
            </a:r>
            <a:r>
              <a:rPr sz="860" b="0">
                <a:solidFill>
                  <a:srgbClr val="5E6B78"/>
                </a:solidFill>
                <a:latin typeface="Microsoft YaHei"/>
                <a:ea typeface="Microsoft YaHei"/>
              </a:rPr>
              <a:t>：异形混排、曲面共形都能直接上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3877056"/>
            <a:ext cx="27432" cy="16276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640080" y="5596128"/>
            <a:ext cx="10908792" cy="420624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41248" y="56784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7FC4C9"/>
                </a:solidFill>
                <a:latin typeface="Microsoft YaHei"/>
                <a:ea typeface="Microsoft YaHei"/>
              </a:rPr>
              <a:t>一句话：</a:t>
            </a:r>
            <a:r>
              <a:rPr sz="919" b="0">
                <a:solidFill>
                  <a:srgbClr val="FFFFFF"/>
                </a:solidFill>
                <a:latin typeface="Microsoft YaHei"/>
                <a:ea typeface="Microsoft YaHei"/>
              </a:rPr>
              <a:t>GNN 不是「更深的 CNN」，而是把「谁影响谁」显式写进模型——这正是超表面阵列最需要的那件事。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364224"/>
            <a:ext cx="9692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2"/>
                </a:solidFill>
                <a:latin typeface="Microsoft YaHei"/>
                <a:ea typeface="Microsoft YaHei"/>
              </a:rPr>
              <a:t>参考：文献总结_架构与代码分析.md §2；Khoram 2023 的图卷积即此类消息传递的一个特例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01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物理主干 + 学习修正 + 物理读出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20×20 1-bit 编码超表面 → 8280 个方向：网络只学 400 个复权重，传播交给写死的可微算子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0643616" cy="4389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1719072"/>
            <a:ext cx="36576" cy="4389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E7C86"/>
                </a:solidFill>
                <a:latin typeface="Microsoft YaHei"/>
                <a:ea typeface="Microsoft YaHei"/>
              </a:rPr>
              <a:t>数据　</a:t>
            </a: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CST 全波：20×20 · 10 GHz · 2° 网格 8280 点 · 306 s/例 · 已生成 2000 例（单频、单入射、单极化）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77240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编码 → 阵列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10×10 宏比特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block=2 → 400 单元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每单元 1-bit 相位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56916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953512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953512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72384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建图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400 节点 × 9 特征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8 邻域 → 2964 条边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边特征 Δx, Δy, r（÷λ）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33188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129783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129783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248655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GNN 修正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5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3 层边条件消息传递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Δq：400 个复数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整图池化 → b：1 个复数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09459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06055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306055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24927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权重合成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q = q0 + Δq + b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q0 查单元库（0 参数）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零初始化 → 起点 = M0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285732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482328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482328" y="2340864"/>
            <a:ext cx="1938528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601200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物理读出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S = Σ qₙ·exp(jk·rₙ)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σ = |Eθ|² + |Eφ|²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8280 个方向 → dBsm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1664208" y="2194560"/>
            <a:ext cx="137160" cy="118872"/>
          </a:xfrm>
          <a:prstGeom prst="down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77240" y="3913632"/>
            <a:ext cx="10643616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3968496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8A96A2"/>
                </a:solidFill>
                <a:latin typeface="Microsoft YaHei"/>
                <a:ea typeface="Microsoft YaHei"/>
              </a:rPr>
              <a:t>同一套前向，三种用法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187952"/>
            <a:ext cx="340156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77240" y="4187952"/>
            <a:ext cx="31089" cy="1170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41832" y="4261104"/>
            <a:ext cx="31272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Microsoft YaHei"/>
                <a:ea typeface="Microsoft YaHei"/>
              </a:rPr>
              <a:t>训练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" y="4517136"/>
            <a:ext cx="31089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损失：dB 域 asinh 压缩 MSE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sinθ 立体角权重 + 主瓣 ×3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AdamW，早停只看 val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61688" y="4187952"/>
            <a:ext cx="340156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4361688" y="4187952"/>
            <a:ext cx="31089" cy="1170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26279" y="4261104"/>
            <a:ext cx="31272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Microsoft YaHei"/>
                <a:ea typeface="Microsoft YaHei"/>
              </a:rPr>
              <a:t>评估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79" y="4517136"/>
            <a:ext cx="31089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rho_lin / rho_db / bias / rmse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分带误差 0–5° … 60–90°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对照 M0 / M0g / M1 / M2 / M3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46136" y="4187952"/>
            <a:ext cx="3291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7A2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946136" y="4187952"/>
            <a:ext cx="31089" cy="1170432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110727" y="426110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7A24"/>
                </a:solidFill>
                <a:latin typeface="Microsoft YaHei"/>
                <a:ea typeface="Microsoft YaHei"/>
              </a:rPr>
              <a:t>反设计（下一步）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0727" y="4517136"/>
            <a:ext cx="29992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对 q 求梯度 → 松弛 + 二值化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CST 复核 Top-K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回写码本，形成闭环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632704"/>
            <a:ext cx="10643616" cy="420624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60120" y="571500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7FC4C9"/>
                </a:solidFill>
                <a:latin typeface="Microsoft YaHei"/>
                <a:ea typeface="Microsoft YaHei"/>
              </a:rPr>
              <a:t>三条不变量：</a:t>
            </a:r>
            <a:r>
              <a:rPr sz="919" b="0">
                <a:solidFill>
                  <a:srgbClr val="FFFFFF"/>
                </a:solidFill>
                <a:latin typeface="Microsoft YaHei"/>
                <a:ea typeface="Microsoft YaHei"/>
              </a:rPr>
              <a:t>物理主干 0 参数　·　只学 400 个复权重　·　零初始化使 M3 起点恰为 M0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364224"/>
            <a:ext cx="9692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2"/>
                </a:solidFill>
                <a:latin typeface="Microsoft YaHei"/>
                <a:ea typeface="Microsoft YaHei"/>
              </a:rPr>
              <a:t>依据：后续工作计划.md · GNN代码解读.md · 一份真实数据的全流程演示.md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02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我们的实现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GNN 只学一件事：每个单元的复权重修正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400 节点 · 2964 条边 · 3 层边条件消息传递；每节点只出 2 个数（Δq 的实部 / 虚部）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58368" y="1719072"/>
            <a:ext cx="237744" cy="237744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7099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图怎么建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1719072"/>
            <a:ext cx="237744" cy="237744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7099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一层怎么算</a:t>
            </a:r>
          </a:p>
        </p:txBody>
      </p:sp>
      <p:sp>
        <p:nvSpPr>
          <p:cNvPr id="11" name="Oval 10"/>
          <p:cNvSpPr/>
          <p:nvPr/>
        </p:nvSpPr>
        <p:spPr>
          <a:xfrm>
            <a:off x="8092440" y="1719072"/>
            <a:ext cx="237744" cy="237744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17099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怎么变成 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103120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56132" y="2103120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362456" y="2103120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668780" y="2103120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975104" y="2103120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49808" y="2409444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56132" y="2409444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362456" y="2409444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68780" y="2409444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975104" y="2409444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49808" y="2715768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056132" y="2715768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362456" y="2715768"/>
            <a:ext cx="306324" cy="306324"/>
          </a:xfrm>
          <a:prstGeom prst="rect">
            <a:avLst/>
          </a:prstGeom>
          <a:solidFill>
            <a:srgbClr val="0E7C86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668780" y="2715768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975104" y="2715768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49808" y="3022091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056132" y="3022091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362456" y="3022091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668780" y="3022091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975104" y="3022091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49808" y="3328415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056132" y="3328415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362456" y="3328415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668780" y="3328415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975104" y="3328415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49808" y="3707891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8A96A2"/>
                </a:solidFill>
                <a:latin typeface="Microsoft YaHei"/>
                <a:ea typeface="Microsoft YaHei"/>
              </a:rPr>
              <a:t>■ 中心 j　　■ 8 邻域 i　　□ 其余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913632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E7C86"/>
                </a:solidFill>
                <a:latin typeface="Microsoft YaHei"/>
                <a:ea typeface="Microsoft YaHei"/>
              </a:rPr>
              <a:t>节点 9 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133087"/>
            <a:ext cx="3566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B3845"/>
                </a:solidFill>
                <a:latin typeface="Microsoft YaHei"/>
                <a:ea typeface="Microsoft YaHei"/>
              </a:rPr>
              <a:t>bit · bit±1 · x/λ · y/λ · Γ 实部 · Γ 虚部 · |Γ| · 边界 · n̂·ẑ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6177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E7C86"/>
                </a:solidFill>
                <a:latin typeface="Microsoft YaHei"/>
                <a:ea typeface="Microsoft YaHei"/>
              </a:rPr>
              <a:t>边 5 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837176"/>
            <a:ext cx="3566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B3845"/>
                </a:solidFill>
                <a:latin typeface="Microsoft YaHei"/>
                <a:ea typeface="Microsoft YaHei"/>
              </a:rPr>
              <a:t>Δx/λ · Δy/λ · r/λ · cos φ · sin φ（相对方位）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28523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2964 = 760 + 760 + 1444，无周期延拓；边缘单元邻居少，靠边界位标记。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0" y="2084831"/>
            <a:ext cx="3246120" cy="8778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4480560" y="2084831"/>
            <a:ext cx="31089" cy="8778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626864" y="215798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m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ij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= MLP</a:t>
            </a:r>
            <a:r>
              <a:rPr sz="700" b="0" baseline="-25000">
                <a:solidFill>
                  <a:srgbClr val="2B3845"/>
                </a:solidFill>
                <a:latin typeface="Microsoft YaHei"/>
                <a:ea typeface="Microsoft YaHei"/>
              </a:rPr>
              <a:t>msg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( [ h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i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, h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, e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ij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] 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h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← LN( h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+ MLP</a:t>
            </a:r>
            <a:r>
              <a:rPr sz="700" b="0" baseline="-25000">
                <a:solidFill>
                  <a:srgbClr val="2B3845"/>
                </a:solidFill>
                <a:latin typeface="Microsoft YaHei"/>
                <a:ea typeface="Microsoft YaHei"/>
              </a:rPr>
              <a:t>upd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( [ h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, Σ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i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m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ij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] ) 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3127248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边条件卷积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3328416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权重由 e_ij 生成，不是 GCN 那种固定邻接加权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3694176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sum 聚合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3895344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节点重排不改变结果（置换等变）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4261104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3 层 → 半径 3 格 ≈ 1.4λ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4462272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感受野 7×7，覆盖 1–2 个单元的耦合尺度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4828031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残差 + LayerNorm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029199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3 层不塌，也不需要更深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2084831"/>
            <a:ext cx="329184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213969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head：Linear(64 → 2)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6B78"/>
                </a:solidFill>
                <a:latin typeface="Microsoft YaHei"/>
                <a:ea typeface="Microsoft YaHei"/>
              </a:rPr>
              <a:t>每节点出 (Re Δq, Im Δq)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2761488"/>
            <a:ext cx="329184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229600" y="281635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全局支路：mean-pool → MLP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6B78"/>
                </a:solidFill>
                <a:latin typeface="Microsoft YaHei"/>
                <a:ea typeface="Microsoft YaHei"/>
              </a:rPr>
              <a:t>整图出 1 个复数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2440" y="3438144"/>
            <a:ext cx="3291840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229600" y="35478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  <a:ea typeface="Microsoft YaHei"/>
              </a:rPr>
              <a:t>q = q0 + Δq + 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92440" y="409651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101k 参数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92440" y="428853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M1 U-Net 是 212k；M0 是 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2440" y="4626864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零初始化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48188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Δq = b = 0 → 初始输出恰为 M0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92440" y="51572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不加注意力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2440" y="53492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规则栅格 + 小样本，GAT 先过拟合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5614416"/>
            <a:ext cx="10725912" cy="420624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41248" y="5696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C4C9"/>
                </a:solidFill>
                <a:latin typeface="Microsoft YaHei"/>
                <a:ea typeface="Microsoft YaHei"/>
              </a:rPr>
              <a:t>边界：</a:t>
            </a: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</a:rPr>
              <a:t>长程干涉不归 GNN 管——整孔径相干叠加由 8280×400 算子精确给出；要更长程就加边类型（M4），而不是加深网络。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6364224"/>
            <a:ext cx="9692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2"/>
                </a:solidFill>
                <a:latin typeface="Microsoft YaHei"/>
                <a:ea typeface="Microsoft YaHei"/>
              </a:rPr>
              <a:t>依据：GNN代码解读.md §2、§6.2–6.4；参数量与图规模由 tests/test_graph.py 钉住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03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现状与方向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镜面已补上，误差迁移到大角域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先跑 291 个样本（其中 44 例 test），训练 5 epoch：骨架已经闭合，剩下的是四个维度的泛化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755648"/>
            <a:ext cx="1719072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1819656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镜面误差  θ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2996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2263A"/>
                </a:solidFill>
                <a:latin typeface="Microsoft YaHei"/>
                <a:ea typeface="Microsoft YaHei"/>
              </a:rPr>
              <a:t>−16.1 dB  →  +0.16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04288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M0  →  M3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6311" y="1755648"/>
            <a:ext cx="1719072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624327" y="1819656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7" y="202996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2263A"/>
                </a:solidFill>
                <a:latin typeface="Microsoft YaHei"/>
                <a:ea typeface="Microsoft YaHei"/>
              </a:rPr>
              <a:t>4.65 dB  →  2.64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7" y="2304288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全角域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544" y="1755648"/>
            <a:ext cx="1719072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80559" y="1819656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rho_db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02996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2263A"/>
                </a:solidFill>
                <a:latin typeface="Microsoft YaHei"/>
                <a:ea typeface="Microsoft YaHei"/>
              </a:rPr>
              <a:t>0.865  →  0.958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304288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弥散结构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34640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263A"/>
                </a:solidFill>
                <a:latin typeface="Microsoft YaHei"/>
                <a:ea typeface="Microsoft YaHei"/>
              </a:rPr>
              <a:t>M3 分带 RMSE（test）</a:t>
            </a:r>
            <a:r>
              <a:rPr sz="800" b="0">
                <a:solidFill>
                  <a:srgbClr val="8A96A2"/>
                </a:solidFill>
                <a:latin typeface="Microsoft YaHei"/>
                <a:ea typeface="Microsoft YaHei"/>
              </a:rPr>
              <a:t>　　误差已从镜面锥迁到 60–90° 掠射区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0896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0–5°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145536"/>
            <a:ext cx="197265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42017" y="310896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0.29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56432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5–15°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493008"/>
            <a:ext cx="666619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111371" y="3456432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0.98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03904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15–30°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840479"/>
            <a:ext cx="673422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118174" y="38039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0.99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51376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30–60°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4187952"/>
            <a:ext cx="1020336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465088" y="415137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1.50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988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60–90°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535423"/>
            <a:ext cx="2788920" cy="137160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33672" y="449884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4.10 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956048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M0 的 0–5° 误差是 14.0 dB，M3 压到 0.29 dB；</a:t>
            </a: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新的短板是大角域（4.10 dB）——倾斜因子与边缘效应。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1755648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263A"/>
                </a:solidFill>
                <a:latin typeface="Microsoft YaHei"/>
                <a:ea typeface="Microsoft YaHei"/>
              </a:rPr>
              <a:t>往哪走：四个维度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2011680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355080" y="2011680"/>
            <a:ext cx="31089" cy="822960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92240" y="2103120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209397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目标 · 换挡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235000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随机码 → 结构化码本（斜坡 / 多波束 / 零陷）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2569464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预测 RCS → 匹配目标方向图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907792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355080" y="2907792"/>
            <a:ext cx="31089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6492240" y="2999232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299008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规模 · 外推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324612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固定 20×20 → 可变口径（滑窗 / 分块）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3465576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GNN 与尺寸无关，算子按尺寸预计算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03904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355080" y="3803904"/>
            <a:ext cx="31089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6492240" y="3895344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38862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频率 · 宽带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9712" y="4142232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单频 10 GHz → 多频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436168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阵中 f0 = 9.6 GHz、Q = 4.86，色散进单元库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700016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6355080" y="4700016"/>
            <a:ext cx="31089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6492240" y="4791456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9712" y="478231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单元 · 异构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9712" y="5038344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双半径贴片 → 异形 / 异相单元混排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39712" y="525780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异质图（多类型节点 / 边）才有用武之地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614416"/>
            <a:ext cx="10908792" cy="402336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41248" y="568756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7FC4C9"/>
                </a:solidFill>
                <a:latin typeface="Microsoft YaHei"/>
                <a:ea typeface="Microsoft YaHei"/>
              </a:rPr>
              <a:t>判断：</a:t>
            </a:r>
            <a:r>
              <a:rPr sz="919" b="0">
                <a:solidFill>
                  <a:srgbClr val="FFFFFF"/>
                </a:solidFill>
                <a:latin typeface="Microsoft YaHei"/>
                <a:ea typeface="Microsoft YaHei"/>
              </a:rPr>
              <a:t>方法骨架已经闭合，接下来不是换网络，而是把「目标 × 规模 × 频率 × 单元」四个维度逐个打开。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364224"/>
            <a:ext cx="9692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2"/>
                </a:solidFill>
                <a:latin typeface="Microsoft YaHei"/>
                <a:ea typeface="Microsoft YaHei"/>
              </a:rPr>
              <a:t>数字来源：demo_out/eval/metrics_summary.csv（M3 与 M0，test，44 例）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04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会议借鉴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两篇会议工作，四件可以借的事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只取组织方式——异质图、残差、读出、闭环；网络结构不必照搬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07008" y="170078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spc="60">
                <a:solidFill>
                  <a:srgbClr val="8A96A2"/>
                </a:solidFill>
                <a:latin typeface="Microsoft YaHei"/>
                <a:ea typeface="Microsoft YaHei"/>
              </a:rPr>
              <a:t>借鉴点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1700784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spc="60">
                <a:solidFill>
                  <a:srgbClr val="8A96A2"/>
                </a:solidFill>
                <a:latin typeface="Microsoft YaHei"/>
                <a:ea typeface="Microsoft YaHei"/>
              </a:rPr>
              <a:t>他们怎么做的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1700784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spc="60">
                <a:solidFill>
                  <a:srgbClr val="8A96A2"/>
                </a:solidFill>
                <a:latin typeface="Microsoft YaHei"/>
                <a:ea typeface="Microsoft YaHei"/>
              </a:rPr>
              <a:t>我们怎么用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75104"/>
            <a:ext cx="10908792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975104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异质图：节点与边都分类型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1975104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节点 = 面 / 楔 / 收发点，边 = LoS / 反射 / 绕射；每类边一套消息函数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975104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不同相位单元 = 多类型节点（各带 Γ 与几何）；耦合机制 = 多类型边 → 异相混排的骨架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871216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2871216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主干 × 可退化残差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871216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m = A·fθ(h)，令 fθ ≡ 1 即退回解析解，用作消融基线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871216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我们已是 q0 + Δq + b：δ ≡ 0 就是 M0。写进方法论，并当作消融与 OOD 兜底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67328"/>
            <a:ext cx="10908792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3767328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3767328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物理读出，不学 decoder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767328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按物理路径池化复数消息，再取 dB；不是全图平均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767328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8280×400 传播算子直接读出；消息聚合用 sum，而不是定长邻居拼接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663440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663440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闭环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4663440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0 → 100 m 逐面推进，训练时喂自己的预测压住漂移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663440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尺寸 / 频率外推时用 scheduled sampling 抑制误差累积（提议，尚未实现）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60720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587044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97A24"/>
                </a:solidFill>
                <a:latin typeface="Microsoft YaHei"/>
                <a:ea typeface="Microsoft YaHei"/>
              </a:rPr>
              <a:t>一句话：</a:t>
            </a: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借的是「异质图 + 物理残差」的组织方式，不是他们的网络结构。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05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